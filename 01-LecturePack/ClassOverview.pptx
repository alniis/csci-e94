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  <p:sldMasterId id="2147484143" r:id="rId2"/>
  </p:sldMasterIdLst>
  <p:notesMasterIdLst>
    <p:notesMasterId r:id="rId48"/>
  </p:notesMasterIdLst>
  <p:handoutMasterIdLst>
    <p:handoutMasterId r:id="rId49"/>
  </p:handoutMasterIdLst>
  <p:sldIdLst>
    <p:sldId id="256" r:id="rId3"/>
    <p:sldId id="257" r:id="rId4"/>
    <p:sldId id="559" r:id="rId5"/>
    <p:sldId id="259" r:id="rId6"/>
    <p:sldId id="544" r:id="rId7"/>
    <p:sldId id="260" r:id="rId8"/>
    <p:sldId id="261" r:id="rId9"/>
    <p:sldId id="546" r:id="rId10"/>
    <p:sldId id="561" r:id="rId11"/>
    <p:sldId id="264" r:id="rId12"/>
    <p:sldId id="516" r:id="rId13"/>
    <p:sldId id="517" r:id="rId14"/>
    <p:sldId id="519" r:id="rId15"/>
    <p:sldId id="269" r:id="rId16"/>
    <p:sldId id="562" r:id="rId17"/>
    <p:sldId id="563" r:id="rId18"/>
    <p:sldId id="558" r:id="rId19"/>
    <p:sldId id="564" r:id="rId20"/>
    <p:sldId id="560" r:id="rId21"/>
    <p:sldId id="270" r:id="rId22"/>
    <p:sldId id="271" r:id="rId23"/>
    <p:sldId id="272" r:id="rId24"/>
    <p:sldId id="273" r:id="rId25"/>
    <p:sldId id="565" r:id="rId26"/>
    <p:sldId id="520" r:id="rId27"/>
    <p:sldId id="268" r:id="rId28"/>
    <p:sldId id="274" r:id="rId29"/>
    <p:sldId id="554" r:id="rId30"/>
    <p:sldId id="275" r:id="rId31"/>
    <p:sldId id="265" r:id="rId32"/>
    <p:sldId id="556" r:id="rId33"/>
    <p:sldId id="557" r:id="rId34"/>
    <p:sldId id="521" r:id="rId35"/>
    <p:sldId id="567" r:id="rId36"/>
    <p:sldId id="549" r:id="rId37"/>
    <p:sldId id="551" r:id="rId38"/>
    <p:sldId id="555" r:id="rId39"/>
    <p:sldId id="552" r:id="rId40"/>
    <p:sldId id="553" r:id="rId41"/>
    <p:sldId id="566" r:id="rId42"/>
    <p:sldId id="548" r:id="rId43"/>
    <p:sldId id="335" r:id="rId44"/>
    <p:sldId id="494" r:id="rId45"/>
    <p:sldId id="336" r:id="rId46"/>
    <p:sldId id="276" r:id="rId47"/>
  </p:sldIdLst>
  <p:sldSz cx="9144000" cy="6858000" type="screen4x3"/>
  <p:notesSz cx="7077075" cy="9383713"/>
  <p:embeddedFontLs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Segoe UI" panose="020B0502040204020203" pitchFamily="34" charset="0"/>
      <p:regular r:id="rId54"/>
      <p:bold r:id="rId55"/>
      <p:italic r:id="rId56"/>
      <p:boldItalic r:id="rId57"/>
    </p:embeddedFont>
    <p:embeddedFont>
      <p:font typeface="Segoe UI Light" panose="020B0502040204020203" pitchFamily="34" charset="0"/>
      <p:regular r:id="rId58"/>
      <p:italic r:id="rId59"/>
    </p:embeddedFont>
    <p:embeddedFont>
      <p:font typeface="Tahoma" panose="020B0604030504040204" pitchFamily="34" charset="0"/>
      <p:regular r:id="rId60"/>
      <p:bold r:id="rId6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>
          <p15:clr>
            <a:srgbClr val="A4A3A4"/>
          </p15:clr>
        </p15:guide>
        <p15:guide id="2" pos="222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500"/>
    <a:srgbClr val="FF6600"/>
    <a:srgbClr val="CC00CC"/>
    <a:srgbClr val="EAB200"/>
    <a:srgbClr val="2FBB2F"/>
    <a:srgbClr val="1188FF"/>
    <a:srgbClr val="2994FF"/>
    <a:srgbClr val="0000CC"/>
    <a:srgbClr val="008000"/>
    <a:srgbClr val="19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4729" autoAdjust="0"/>
  </p:normalViewPr>
  <p:slideViewPr>
    <p:cSldViewPr>
      <p:cViewPr varScale="1">
        <p:scale>
          <a:sx n="95" d="100"/>
          <a:sy n="95" d="100"/>
        </p:scale>
        <p:origin x="1699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3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6650"/>
    </p:cViewPr>
  </p:sorterViewPr>
  <p:notesViewPr>
    <p:cSldViewPr>
      <p:cViewPr varScale="1">
        <p:scale>
          <a:sx n="100" d="100"/>
          <a:sy n="100" d="100"/>
        </p:scale>
        <p:origin x="3480" y="84"/>
      </p:cViewPr>
      <p:guideLst>
        <p:guide orient="horz" pos="2956"/>
        <p:guide pos="222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microsoft.com/office/2018/10/relationships/authors" Target="authors.xml"/><Relationship Id="rId5" Type="http://schemas.openxmlformats.org/officeDocument/2006/relationships/slide" Target="slides/slide3.xml"/><Relationship Id="rId61" Type="http://schemas.openxmlformats.org/officeDocument/2006/relationships/font" Target="fonts/font1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4055" tIns="47028" rIns="94055" bIns="47028" rtlCol="0"/>
          <a:lstStyle>
            <a:lvl1pPr algn="l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4055" tIns="47028" rIns="94055" bIns="47028" rtlCol="0"/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CBBF7D1C-D907-458C-A21A-BB4E089AE733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2225"/>
            <a:ext cx="3067050" cy="469900"/>
          </a:xfrm>
          <a:prstGeom prst="rect">
            <a:avLst/>
          </a:prstGeom>
        </p:spPr>
        <p:txBody>
          <a:bodyPr vert="horz" lIns="94055" tIns="47028" rIns="94055" bIns="47028" rtlCol="0" anchor="b"/>
          <a:lstStyle>
            <a:lvl1pPr algn="l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438" y="8912225"/>
            <a:ext cx="3067050" cy="469900"/>
          </a:xfrm>
          <a:prstGeom prst="rect">
            <a:avLst/>
          </a:prstGeom>
        </p:spPr>
        <p:txBody>
          <a:bodyPr vert="horz" lIns="94055" tIns="47028" rIns="94055" bIns="47028" rtlCol="0" anchor="b"/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1C7E8225-3571-43F5-9F43-8040993DB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79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55" tIns="47028" rIns="94055" bIns="4702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08438" y="0"/>
            <a:ext cx="30670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55" tIns="47028" rIns="94055" bIns="470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3263"/>
            <a:ext cx="4692650" cy="3519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457700"/>
            <a:ext cx="5661025" cy="422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55" tIns="47028" rIns="94055" bIns="470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2225"/>
            <a:ext cx="30670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55" tIns="47028" rIns="94055" bIns="4702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8438" y="8912225"/>
            <a:ext cx="30670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55" tIns="47028" rIns="94055" bIns="470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0373270-DF0F-4E96-BDDA-1662EB9756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717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90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Cache-Aside: 		https://docs.microsoft.com/en-us/azure/architecture/patterns/cache-aside</a:t>
            </a:r>
          </a:p>
          <a:p>
            <a:r>
              <a:rPr lang="en-US" dirty="0"/>
              <a:t>Materialized View: 	https://docs.microsoft.com/en-us/azure/architecture/patterns/materialized-view</a:t>
            </a:r>
          </a:p>
          <a:p>
            <a:r>
              <a:rPr lang="en-US" dirty="0"/>
              <a:t>Throttling: 		https://docs.microsoft.com/en-us/azure/architecture/patterns/throttling</a:t>
            </a:r>
          </a:p>
          <a:p>
            <a:r>
              <a:rPr lang="en-US" dirty="0"/>
              <a:t>Notification and Pull:	A Joe Pattern</a:t>
            </a:r>
          </a:p>
          <a:p>
            <a:r>
              <a:rPr lang="en-US" dirty="0"/>
              <a:t>And More:		https://docs.microsoft.com/en-us/azure/architecture/patterns/  Additional select topics from Microsoft’s azure architecture patters may be covered based on time and interest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2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Cache-Aside: 		https://docs.microsoft.com/en-us/azure/architecture/patterns/cache-aside</a:t>
            </a:r>
          </a:p>
          <a:p>
            <a:r>
              <a:rPr lang="en-US" dirty="0"/>
              <a:t>Materialized View: 	https://docs.microsoft.com/en-us/azure/architecture/patterns/materialized-view</a:t>
            </a:r>
          </a:p>
          <a:p>
            <a:r>
              <a:rPr lang="en-US" dirty="0"/>
              <a:t>Throttling: 		https://docs.microsoft.com/en-us/azure/architecture/patterns/throttling</a:t>
            </a:r>
          </a:p>
          <a:p>
            <a:r>
              <a:rPr lang="en-US" dirty="0"/>
              <a:t>Notification and Pull:	A Joe Pattern</a:t>
            </a:r>
          </a:p>
          <a:p>
            <a:r>
              <a:rPr lang="en-US" dirty="0"/>
              <a:t>And More:		https://docs.microsoft.com/en-us/azure/architecture/patterns/  Additional select topics from Microsoft’s azure architecture patters may be covered based on time and interest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65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CD60-65E3-4FD9-7C9C-FC880512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1DF0E-9B7C-E310-3F19-FF36DFB3C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3CDDA-0F7C-1E99-9EAC-CBA347DFE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Cache-Aside: 		https://docs.microsoft.com/en-us/azure/architecture/patterns/cache-aside</a:t>
            </a:r>
          </a:p>
          <a:p>
            <a:r>
              <a:rPr lang="en-US" dirty="0"/>
              <a:t>Materialized View: 	https://docs.microsoft.com/en-us/azure/architecture/patterns/materialized-view</a:t>
            </a:r>
          </a:p>
          <a:p>
            <a:r>
              <a:rPr lang="en-US" dirty="0"/>
              <a:t>Throttling: 		https://docs.microsoft.com/en-us/azure/architecture/patterns/throttling</a:t>
            </a:r>
          </a:p>
          <a:p>
            <a:r>
              <a:rPr lang="en-US" dirty="0"/>
              <a:t>Notification and Pull:	A Joe Pattern</a:t>
            </a:r>
          </a:p>
          <a:p>
            <a:r>
              <a:rPr lang="en-US" dirty="0"/>
              <a:t>And More:		https://docs.microsoft.com/en-us/azure/architecture/patterns/  Additional select topics from Microsoft’s azure architecture patters may be covered based on time and interest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696E8-A321-94C6-DB5D-5E21D5F58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49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727F0-DDD1-A5A0-6A0F-F1F65026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BD7D5-0B71-BAB5-921A-8D0E812A2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E7475-0C55-B170-3DBE-E3AA5362E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2C62D-69A4-28D4-87B3-72B844EC6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5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044F-C219-1738-F55E-361CD087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2AE6A-FF85-3149-A963-7C2551D9D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38447-DE1A-8A4C-3B96-E6DFE13B9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1E1FD-515C-8DD0-784C-DF73FD83E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7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5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4724-7BAB-8A80-F643-23091E5C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63628-835E-2D64-4672-683410EE8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F4CB9-6CDE-18D3-958C-0B524C8E2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3EEC7-C40A-F21D-9366-D279C62A8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373270-DF0F-4E96-BDDA-1662EB97563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9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 tIns="4572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 userDrawn="1"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sz="800" dirty="0" smtClean="0"/>
            </a:lvl1pPr>
          </a:lstStyle>
          <a:p>
            <a:pPr>
              <a:defRPr/>
            </a:pPr>
            <a:r>
              <a:rPr lang="en-US" dirty="0">
                <a:latin typeface="+mj-lt"/>
              </a:rPr>
              <a:t>01/29/2026</a:t>
            </a:r>
          </a:p>
        </p:txBody>
      </p:sp>
      <p:sp>
        <p:nvSpPr>
          <p:cNvPr id="20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990600" y="3797653"/>
            <a:ext cx="7543800" cy="2505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CSCI E-94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Fundamentals of Cloud Computing 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with Azure &amp; Open AI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Joseph Ficara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 Copyright © 2013-2026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18833E-267C-431E-82BB-1D58F88669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22" y="2195381"/>
            <a:ext cx="956965" cy="92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07837"/>
      </p:ext>
    </p:extLst>
  </p:cSld>
  <p:clrMapOvr>
    <a:masterClrMapping/>
  </p:clrMapOvr>
  <p:transition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45720"/>
          <a:lstStyle>
            <a:lvl1pPr>
              <a:defRPr>
                <a:solidFill>
                  <a:srgbClr val="3399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1676400"/>
            <a:ext cx="7772400" cy="4724400"/>
          </a:xfrm>
        </p:spPr>
        <p:txBody>
          <a:bodyPr/>
          <a:lstStyle>
            <a:lvl1pPr marL="342900" indent="-342900">
              <a:buClr>
                <a:srgbClr val="3399FF"/>
              </a:buClr>
              <a:buFont typeface="Wingdings" panose="05000000000000000000" pitchFamily="2" charset="2"/>
              <a:buChar char="n"/>
              <a:defRPr/>
            </a:lvl1pPr>
            <a:lvl2pPr>
              <a:buClr>
                <a:srgbClr val="CC0099"/>
              </a:buClr>
              <a:defRPr/>
            </a:lvl2pPr>
            <a:lvl3pPr>
              <a:buClr>
                <a:srgbClr val="00A500"/>
              </a:buClr>
              <a:defRPr/>
            </a:lvl3pPr>
            <a:lvl4pPr>
              <a:buClr>
                <a:srgbClr val="FF9900"/>
              </a:buClr>
              <a:defRPr/>
            </a:lvl4pPr>
            <a:lvl5pPr>
              <a:buClr>
                <a:srgbClr val="6600CC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/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8340"/>
      </p:ext>
    </p:extLst>
  </p:cSld>
  <p:clrMapOvr>
    <a:masterClrMapping/>
  </p:clrMapOvr>
  <p:transition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45720"/>
          <a:lstStyle>
            <a:lvl1pPr>
              <a:defRPr>
                <a:solidFill>
                  <a:srgbClr val="3399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1676400"/>
            <a:ext cx="3810000" cy="4724400"/>
          </a:xfrm>
        </p:spPr>
        <p:txBody>
          <a:bodyPr/>
          <a:lstStyle>
            <a:lvl1pPr>
              <a:buClr>
                <a:srgbClr val="3399FF"/>
              </a:buCl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1676400"/>
            <a:ext cx="3810000" cy="4724400"/>
          </a:xfrm>
        </p:spPr>
        <p:txBody>
          <a:bodyPr/>
          <a:lstStyle>
            <a:lvl1pPr>
              <a:buClr>
                <a:srgbClr val="3399FF"/>
              </a:buCl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/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202697"/>
      </p:ext>
    </p:extLst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A">
    <p:bg>
      <p:bgPr>
        <a:solidFill>
          <a:srgbClr val="FF99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 userDrawn="1"/>
        </p:nvSpPr>
        <p:spPr bwMode="auto">
          <a:xfrm>
            <a:off x="5029200" y="4572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Oval 11"/>
          <p:cNvSpPr/>
          <p:nvPr userDrawn="1"/>
        </p:nvSpPr>
        <p:spPr bwMode="auto">
          <a:xfrm>
            <a:off x="3962400" y="44196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Oval 13"/>
          <p:cNvSpPr/>
          <p:nvPr userDrawn="1"/>
        </p:nvSpPr>
        <p:spPr bwMode="auto">
          <a:xfrm>
            <a:off x="6553200" y="33147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5" name="Oval 14"/>
          <p:cNvSpPr/>
          <p:nvPr userDrawn="1"/>
        </p:nvSpPr>
        <p:spPr bwMode="auto">
          <a:xfrm>
            <a:off x="388938" y="200025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6" name="Oval 15"/>
          <p:cNvSpPr/>
          <p:nvPr userDrawn="1"/>
        </p:nvSpPr>
        <p:spPr bwMode="auto">
          <a:xfrm>
            <a:off x="533400" y="5710238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7" name="Oval 16"/>
          <p:cNvSpPr/>
          <p:nvPr userDrawn="1"/>
        </p:nvSpPr>
        <p:spPr bwMode="auto">
          <a:xfrm>
            <a:off x="3236913" y="2971800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8" name="Oval 17"/>
          <p:cNvSpPr/>
          <p:nvPr userDrawn="1"/>
        </p:nvSpPr>
        <p:spPr bwMode="auto">
          <a:xfrm>
            <a:off x="1484313" y="421481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Oval 18"/>
          <p:cNvSpPr/>
          <p:nvPr userDrawn="1"/>
        </p:nvSpPr>
        <p:spPr bwMode="auto">
          <a:xfrm>
            <a:off x="2438400" y="1323975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0" name="Oval 19"/>
          <p:cNvSpPr/>
          <p:nvPr userDrawn="1"/>
        </p:nvSpPr>
        <p:spPr bwMode="auto">
          <a:xfrm>
            <a:off x="2150270" y="4614863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Oval 20"/>
          <p:cNvSpPr/>
          <p:nvPr userDrawn="1"/>
        </p:nvSpPr>
        <p:spPr bwMode="auto">
          <a:xfrm>
            <a:off x="7504113" y="973931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26" name="Picture 4" descr="ag00291_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050"/>
            <a:ext cx="1952625" cy="828675"/>
          </a:xfrm>
          <a:prstGeom prst="rect">
            <a:avLst/>
          </a:prstGeom>
          <a:noFill/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 userDrawn="1"/>
        </p:nvSpPr>
        <p:spPr>
          <a:xfrm>
            <a:off x="1143000" y="2810470"/>
            <a:ext cx="7800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747712" y="3810000"/>
            <a:ext cx="8153400" cy="604837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Demo Topic</a:t>
            </a:r>
            <a:endParaRPr lang="en-US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562474"/>
            <a:ext cx="7948612" cy="390526"/>
          </a:xfrm>
        </p:spPr>
        <p:txBody>
          <a:bodyPr/>
          <a:lstStyle>
            <a:lvl1pPr marL="0" indent="0">
              <a:buFontTx/>
              <a:buNone/>
              <a:defRPr sz="2000" baseline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Demosolution.sln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bg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02612"/>
      </p:ext>
    </p:extLst>
  </p:cSld>
  <p:clrMapOvr>
    <a:masterClrMapping/>
  </p:clrMapOvr>
  <p:transition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emo A">
    <p:bg>
      <p:bgPr>
        <a:solidFill>
          <a:srgbClr val="7030A0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 userDrawn="1"/>
        </p:nvSpPr>
        <p:spPr bwMode="auto">
          <a:xfrm>
            <a:off x="5029200" y="4572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Oval 11"/>
          <p:cNvSpPr/>
          <p:nvPr userDrawn="1"/>
        </p:nvSpPr>
        <p:spPr bwMode="auto">
          <a:xfrm>
            <a:off x="3962400" y="44196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Oval 13"/>
          <p:cNvSpPr/>
          <p:nvPr userDrawn="1"/>
        </p:nvSpPr>
        <p:spPr bwMode="auto">
          <a:xfrm>
            <a:off x="6553200" y="331470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5" name="Oval 14"/>
          <p:cNvSpPr/>
          <p:nvPr userDrawn="1"/>
        </p:nvSpPr>
        <p:spPr bwMode="auto">
          <a:xfrm>
            <a:off x="388938" y="2000250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6" name="Oval 15"/>
          <p:cNvSpPr/>
          <p:nvPr userDrawn="1"/>
        </p:nvSpPr>
        <p:spPr bwMode="auto">
          <a:xfrm>
            <a:off x="533400" y="5710238"/>
            <a:ext cx="1524000" cy="15240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7" name="Oval 16"/>
          <p:cNvSpPr/>
          <p:nvPr userDrawn="1"/>
        </p:nvSpPr>
        <p:spPr bwMode="auto">
          <a:xfrm>
            <a:off x="3236913" y="2971800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8" name="Oval 17"/>
          <p:cNvSpPr/>
          <p:nvPr userDrawn="1"/>
        </p:nvSpPr>
        <p:spPr bwMode="auto">
          <a:xfrm>
            <a:off x="1484313" y="421481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Oval 18"/>
          <p:cNvSpPr/>
          <p:nvPr userDrawn="1"/>
        </p:nvSpPr>
        <p:spPr bwMode="auto">
          <a:xfrm>
            <a:off x="2438400" y="1323975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0" name="Oval 19"/>
          <p:cNvSpPr/>
          <p:nvPr userDrawn="1"/>
        </p:nvSpPr>
        <p:spPr bwMode="auto">
          <a:xfrm>
            <a:off x="2150270" y="4614863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Oval 20"/>
          <p:cNvSpPr/>
          <p:nvPr userDrawn="1"/>
        </p:nvSpPr>
        <p:spPr bwMode="auto">
          <a:xfrm>
            <a:off x="7504113" y="973931"/>
            <a:ext cx="573087" cy="55245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26" name="Picture 4" descr="ag00291_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050"/>
            <a:ext cx="1952625" cy="828675"/>
          </a:xfrm>
          <a:prstGeom prst="rect">
            <a:avLst/>
          </a:prstGeom>
          <a:noFill/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 userDrawn="1"/>
        </p:nvSpPr>
        <p:spPr>
          <a:xfrm>
            <a:off x="1143000" y="2810470"/>
            <a:ext cx="7800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747712" y="3810000"/>
            <a:ext cx="8153400" cy="604837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Demo Topic</a:t>
            </a:r>
            <a:endParaRPr lang="en-US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562474"/>
            <a:ext cx="7948612" cy="390526"/>
          </a:xfrm>
        </p:spPr>
        <p:txBody>
          <a:bodyPr/>
          <a:lstStyle>
            <a:lvl1pPr marL="0" indent="0">
              <a:buFontTx/>
              <a:buNone/>
              <a:defRPr sz="2000" baseline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Demosolution.sln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bg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84345"/>
      </p:ext>
    </p:extLst>
  </p:cSld>
  <p:clrMapOvr>
    <a:masterClrMapping/>
  </p:clrMapOvr>
  <p:transition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A">
    <p:bg>
      <p:bgPr>
        <a:solidFill>
          <a:srgbClr val="33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bg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sp>
        <p:nvSpPr>
          <p:cNvPr id="64" name="Cloud 63"/>
          <p:cNvSpPr/>
          <p:nvPr userDrawn="1"/>
        </p:nvSpPr>
        <p:spPr bwMode="auto">
          <a:xfrm>
            <a:off x="2458739" y="3858219"/>
            <a:ext cx="894061" cy="556617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5" name="Cloud 64"/>
          <p:cNvSpPr/>
          <p:nvPr userDrawn="1"/>
        </p:nvSpPr>
        <p:spPr bwMode="auto">
          <a:xfrm>
            <a:off x="6687000" y="3601816"/>
            <a:ext cx="1066800" cy="587624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6" name="Cloud 65"/>
          <p:cNvSpPr/>
          <p:nvPr userDrawn="1"/>
        </p:nvSpPr>
        <p:spPr bwMode="auto">
          <a:xfrm>
            <a:off x="4197715" y="3607220"/>
            <a:ext cx="1066800" cy="587624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7" name="Cloud 66"/>
          <p:cNvSpPr/>
          <p:nvPr userDrawn="1"/>
        </p:nvSpPr>
        <p:spPr bwMode="auto">
          <a:xfrm>
            <a:off x="332918" y="4713351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8" name="Cloud 67"/>
          <p:cNvSpPr/>
          <p:nvPr userDrawn="1"/>
        </p:nvSpPr>
        <p:spPr bwMode="auto">
          <a:xfrm>
            <a:off x="204359" y="2714245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69" name="Cloud 68"/>
          <p:cNvSpPr/>
          <p:nvPr userDrawn="1"/>
        </p:nvSpPr>
        <p:spPr bwMode="auto">
          <a:xfrm>
            <a:off x="6629400" y="4765791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70" name="Picture 4" descr="ag00291_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050"/>
            <a:ext cx="1952625" cy="828675"/>
          </a:xfrm>
          <a:prstGeom prst="rect">
            <a:avLst/>
          </a:prstGeom>
          <a:noFill/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TextBox 70"/>
          <p:cNvSpPr txBox="1"/>
          <p:nvPr userDrawn="1"/>
        </p:nvSpPr>
        <p:spPr>
          <a:xfrm>
            <a:off x="1143000" y="2810470"/>
            <a:ext cx="7800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</a:p>
        </p:txBody>
      </p:sp>
      <p:sp>
        <p:nvSpPr>
          <p:cNvPr id="72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747712" y="3810000"/>
            <a:ext cx="8153400" cy="604837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Demo Topic</a:t>
            </a:r>
            <a:endParaRPr lang="en-US" dirty="0"/>
          </a:p>
        </p:txBody>
      </p:sp>
      <p:sp>
        <p:nvSpPr>
          <p:cNvPr id="73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562474"/>
            <a:ext cx="7948612" cy="390526"/>
          </a:xfrm>
        </p:spPr>
        <p:txBody>
          <a:bodyPr/>
          <a:lstStyle>
            <a:lvl1pPr marL="0" indent="0">
              <a:buFontTx/>
              <a:buNone/>
              <a:defRPr sz="2000" baseline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Demosolution.sln</a:t>
            </a:r>
          </a:p>
        </p:txBody>
      </p:sp>
      <p:sp>
        <p:nvSpPr>
          <p:cNvPr id="74" name="Cloud 73"/>
          <p:cNvSpPr/>
          <p:nvPr userDrawn="1"/>
        </p:nvSpPr>
        <p:spPr bwMode="auto">
          <a:xfrm>
            <a:off x="990600" y="979908"/>
            <a:ext cx="1676400" cy="866776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75" name="Cloud 74"/>
          <p:cNvSpPr/>
          <p:nvPr userDrawn="1"/>
        </p:nvSpPr>
        <p:spPr bwMode="auto">
          <a:xfrm>
            <a:off x="609600" y="613982"/>
            <a:ext cx="1676400" cy="866776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76" name="Cloud 75"/>
          <p:cNvSpPr/>
          <p:nvPr userDrawn="1"/>
        </p:nvSpPr>
        <p:spPr bwMode="auto">
          <a:xfrm>
            <a:off x="4267200" y="979907"/>
            <a:ext cx="762000" cy="505513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77" name="Cloud 76"/>
          <p:cNvSpPr/>
          <p:nvPr userDrawn="1"/>
        </p:nvSpPr>
        <p:spPr bwMode="auto">
          <a:xfrm>
            <a:off x="6629400" y="613982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78" name="Cloud 77"/>
          <p:cNvSpPr/>
          <p:nvPr userDrawn="1"/>
        </p:nvSpPr>
        <p:spPr bwMode="auto">
          <a:xfrm>
            <a:off x="6172200" y="1142810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79" name="Cloud 78"/>
          <p:cNvSpPr/>
          <p:nvPr userDrawn="1"/>
        </p:nvSpPr>
        <p:spPr bwMode="auto">
          <a:xfrm>
            <a:off x="7086600" y="5303954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80" name="Cloud 79"/>
          <p:cNvSpPr/>
          <p:nvPr userDrawn="1"/>
        </p:nvSpPr>
        <p:spPr bwMode="auto">
          <a:xfrm>
            <a:off x="4038600" y="2292763"/>
            <a:ext cx="1600200" cy="910018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81" name="Cloud 80"/>
          <p:cNvSpPr/>
          <p:nvPr userDrawn="1"/>
        </p:nvSpPr>
        <p:spPr bwMode="auto">
          <a:xfrm>
            <a:off x="3962400" y="5296754"/>
            <a:ext cx="1066800" cy="587624"/>
          </a:xfrm>
          <a:prstGeom prst="cloud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5883362"/>
      </p:ext>
    </p:extLst>
  </p:cSld>
  <p:clrMapOvr>
    <a:masterClrMapping/>
  </p:clrMapOvr>
  <p:transition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emo A">
    <p:bg>
      <p:bgPr>
        <a:solidFill>
          <a:srgbClr val="80008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4" descr="ag00291_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050"/>
            <a:ext cx="1952625" cy="828675"/>
          </a:xfrm>
          <a:prstGeom prst="rect">
            <a:avLst/>
          </a:prstGeom>
          <a:noFill/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 bwMode="auto">
          <a:xfrm rot="18742415">
            <a:off x="457200" y="457200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 bwMode="auto">
          <a:xfrm rot="2089919">
            <a:off x="5952441" y="5072063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 bwMode="auto">
          <a:xfrm rot="19941241">
            <a:off x="6629400" y="628650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" name="Rectangle 23"/>
          <p:cNvSpPr/>
          <p:nvPr userDrawn="1"/>
        </p:nvSpPr>
        <p:spPr bwMode="auto">
          <a:xfrm rot="1996546">
            <a:off x="7010400" y="4681537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5" name="Rectangle 24"/>
          <p:cNvSpPr/>
          <p:nvPr userDrawn="1"/>
        </p:nvSpPr>
        <p:spPr bwMode="auto">
          <a:xfrm rot="2416941">
            <a:off x="191184" y="4701688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 bwMode="auto">
          <a:xfrm rot="1674474">
            <a:off x="4114800" y="2391325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 rot="19941241">
            <a:off x="7285941" y="1323976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Rectangle 29"/>
          <p:cNvSpPr/>
          <p:nvPr userDrawn="1"/>
        </p:nvSpPr>
        <p:spPr bwMode="auto">
          <a:xfrm rot="17975674">
            <a:off x="6076266" y="2347362"/>
            <a:ext cx="381000" cy="3518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Rectangle 30"/>
          <p:cNvSpPr/>
          <p:nvPr userDrawn="1"/>
        </p:nvSpPr>
        <p:spPr bwMode="auto">
          <a:xfrm rot="18875403">
            <a:off x="3505200" y="658370"/>
            <a:ext cx="381000" cy="3518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 bwMode="auto">
          <a:xfrm>
            <a:off x="2667000" y="3848648"/>
            <a:ext cx="381000" cy="3518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7" name="Rectangle 36"/>
          <p:cNvSpPr/>
          <p:nvPr userDrawn="1"/>
        </p:nvSpPr>
        <p:spPr bwMode="auto">
          <a:xfrm rot="2010587">
            <a:off x="5257800" y="1162050"/>
            <a:ext cx="381000" cy="3518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" name="Rectangle 37"/>
          <p:cNvSpPr/>
          <p:nvPr userDrawn="1"/>
        </p:nvSpPr>
        <p:spPr bwMode="auto">
          <a:xfrm rot="19485790">
            <a:off x="4191000" y="5407088"/>
            <a:ext cx="381000" cy="3518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9" name="Rectangle 38"/>
          <p:cNvSpPr/>
          <p:nvPr userDrawn="1"/>
        </p:nvSpPr>
        <p:spPr bwMode="auto">
          <a:xfrm rot="18763956">
            <a:off x="1447800" y="761508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0" name="Rectangle 39"/>
          <p:cNvSpPr/>
          <p:nvPr userDrawn="1"/>
        </p:nvSpPr>
        <p:spPr bwMode="auto">
          <a:xfrm rot="2390307">
            <a:off x="1304925" y="5072063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2" name="Rectangle 41"/>
          <p:cNvSpPr/>
          <p:nvPr userDrawn="1"/>
        </p:nvSpPr>
        <p:spPr bwMode="auto">
          <a:xfrm rot="2308016">
            <a:off x="152400" y="2514600"/>
            <a:ext cx="1295400" cy="10668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1143000" y="2810470"/>
            <a:ext cx="7800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747712" y="3810000"/>
            <a:ext cx="8153400" cy="604837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Demo Topic</a:t>
            </a:r>
            <a:endParaRPr lang="en-US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562474"/>
            <a:ext cx="7948612" cy="390526"/>
          </a:xfrm>
        </p:spPr>
        <p:txBody>
          <a:bodyPr/>
          <a:lstStyle>
            <a:lvl1pPr marL="0" indent="0">
              <a:buFontTx/>
              <a:buNone/>
              <a:defRPr sz="2000" baseline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Demosolution.sln</a:t>
            </a:r>
          </a:p>
        </p:txBody>
      </p:sp>
      <p:sp>
        <p:nvSpPr>
          <p:cNvPr id="33" name="Rectangle 32"/>
          <p:cNvSpPr/>
          <p:nvPr userDrawn="1"/>
        </p:nvSpPr>
        <p:spPr bwMode="auto">
          <a:xfrm rot="17975674">
            <a:off x="8143776" y="3634062"/>
            <a:ext cx="381000" cy="351875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5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4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bg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023543"/>
      </p:ext>
    </p:extLst>
  </p:cSld>
  <p:clrMapOvr>
    <a:masterClrMapping/>
  </p:clrMapOvr>
  <p:transition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emo A">
    <p:bg>
      <p:bgPr>
        <a:solidFill>
          <a:srgbClr val="00A5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4" descr="ag00291_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050"/>
            <a:ext cx="1952625" cy="828675"/>
          </a:xfrm>
          <a:prstGeom prst="rect">
            <a:avLst/>
          </a:prstGeom>
          <a:noFill/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 userDrawn="1"/>
        </p:nvSpPr>
        <p:spPr>
          <a:xfrm>
            <a:off x="1143000" y="2810470"/>
            <a:ext cx="7800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747712" y="3810000"/>
            <a:ext cx="8153400" cy="604837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Demo Topic</a:t>
            </a:r>
            <a:endParaRPr lang="en-US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562474"/>
            <a:ext cx="7948612" cy="390526"/>
          </a:xfrm>
        </p:spPr>
        <p:txBody>
          <a:bodyPr/>
          <a:lstStyle>
            <a:lvl1pPr marL="0" indent="0">
              <a:buFontTx/>
              <a:buNone/>
              <a:defRPr sz="2000" baseline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Demosolution.sln</a:t>
            </a:r>
          </a:p>
        </p:txBody>
      </p:sp>
      <p:sp>
        <p:nvSpPr>
          <p:cNvPr id="41" name="Isosceles Triangle 40"/>
          <p:cNvSpPr/>
          <p:nvPr userDrawn="1"/>
        </p:nvSpPr>
        <p:spPr bwMode="auto">
          <a:xfrm>
            <a:off x="104775" y="2443162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Isosceles Triangle 42"/>
          <p:cNvSpPr/>
          <p:nvPr userDrawn="1"/>
        </p:nvSpPr>
        <p:spPr bwMode="auto">
          <a:xfrm>
            <a:off x="304800" y="143469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4" name="Isosceles Triangle 43"/>
          <p:cNvSpPr/>
          <p:nvPr userDrawn="1"/>
        </p:nvSpPr>
        <p:spPr bwMode="auto">
          <a:xfrm>
            <a:off x="928687" y="426243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Isosceles Triangle 44"/>
          <p:cNvSpPr/>
          <p:nvPr userDrawn="1"/>
        </p:nvSpPr>
        <p:spPr bwMode="auto">
          <a:xfrm>
            <a:off x="6581775" y="538161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6" name="Isosceles Triangle 45"/>
          <p:cNvSpPr/>
          <p:nvPr userDrawn="1"/>
        </p:nvSpPr>
        <p:spPr bwMode="auto">
          <a:xfrm>
            <a:off x="5715000" y="1013519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7" name="Isosceles Triangle 46"/>
          <p:cNvSpPr/>
          <p:nvPr userDrawn="1"/>
        </p:nvSpPr>
        <p:spPr bwMode="auto">
          <a:xfrm>
            <a:off x="3548062" y="2021978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8" name="Isosceles Triangle 47"/>
          <p:cNvSpPr/>
          <p:nvPr userDrawn="1"/>
        </p:nvSpPr>
        <p:spPr bwMode="auto">
          <a:xfrm>
            <a:off x="1381124" y="3030437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9" name="Isosceles Triangle 48"/>
          <p:cNvSpPr/>
          <p:nvPr userDrawn="1"/>
        </p:nvSpPr>
        <p:spPr bwMode="auto">
          <a:xfrm>
            <a:off x="3590924" y="4562474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0" name="Isosceles Triangle 49"/>
          <p:cNvSpPr/>
          <p:nvPr userDrawn="1"/>
        </p:nvSpPr>
        <p:spPr bwMode="auto">
          <a:xfrm>
            <a:off x="6581774" y="4230588"/>
            <a:ext cx="1952625" cy="1209676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1" name="Isosceles Triangle 50"/>
          <p:cNvSpPr/>
          <p:nvPr userDrawn="1"/>
        </p:nvSpPr>
        <p:spPr bwMode="auto">
          <a:xfrm>
            <a:off x="3652836" y="681632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2" name="Isosceles Triangle 51"/>
          <p:cNvSpPr/>
          <p:nvPr userDrawn="1"/>
        </p:nvSpPr>
        <p:spPr bwMode="auto">
          <a:xfrm>
            <a:off x="5145881" y="332034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3" name="Isosceles Triangle 52"/>
          <p:cNvSpPr/>
          <p:nvPr userDrawn="1"/>
        </p:nvSpPr>
        <p:spPr bwMode="auto">
          <a:xfrm>
            <a:off x="5117306" y="1461789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4" name="Isosceles Triangle 53"/>
          <p:cNvSpPr/>
          <p:nvPr userDrawn="1"/>
        </p:nvSpPr>
        <p:spPr bwMode="auto">
          <a:xfrm>
            <a:off x="6460330" y="2706587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6" name="Isosceles Triangle 55"/>
          <p:cNvSpPr/>
          <p:nvPr userDrawn="1"/>
        </p:nvSpPr>
        <p:spPr bwMode="auto">
          <a:xfrm>
            <a:off x="7928370" y="5819030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7" name="Isosceles Triangle 56"/>
          <p:cNvSpPr/>
          <p:nvPr userDrawn="1"/>
        </p:nvSpPr>
        <p:spPr bwMode="auto">
          <a:xfrm>
            <a:off x="1312068" y="5380731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8" name="Isosceles Triangle 57"/>
          <p:cNvSpPr/>
          <p:nvPr userDrawn="1"/>
        </p:nvSpPr>
        <p:spPr bwMode="auto">
          <a:xfrm>
            <a:off x="6350792" y="3671739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9" name="Isosceles Triangle 58"/>
          <p:cNvSpPr/>
          <p:nvPr userDrawn="1"/>
        </p:nvSpPr>
        <p:spPr bwMode="auto">
          <a:xfrm>
            <a:off x="8153400" y="2540643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0" name="Isosceles Triangle 59"/>
          <p:cNvSpPr/>
          <p:nvPr userDrawn="1"/>
        </p:nvSpPr>
        <p:spPr bwMode="auto">
          <a:xfrm>
            <a:off x="181659" y="1873597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1" name="Isosceles Triangle 60"/>
          <p:cNvSpPr/>
          <p:nvPr userDrawn="1"/>
        </p:nvSpPr>
        <p:spPr bwMode="auto">
          <a:xfrm>
            <a:off x="2345530" y="2331242"/>
            <a:ext cx="461964" cy="331887"/>
          </a:xfrm>
          <a:prstGeom prst="triangle">
            <a:avLst>
              <a:gd name="adj" fmla="val 49458"/>
            </a:avLst>
          </a:prstGeom>
          <a:noFill/>
          <a:ln w="9525" cap="flat" cmpd="sng" algn="ctr">
            <a:solidFill>
              <a:schemeClr val="bg1">
                <a:lumMod val="85000"/>
                <a:alpha val="5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3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bg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666788"/>
      </p:ext>
    </p:extLst>
  </p:cSld>
  <p:clrMapOvr>
    <a:masterClrMapping/>
  </p:clrMapOvr>
  <p:transition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emo A">
    <p:bg>
      <p:bgPr>
        <a:solidFill>
          <a:schemeClr val="tx1"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amond 36"/>
          <p:cNvSpPr/>
          <p:nvPr userDrawn="1"/>
        </p:nvSpPr>
        <p:spPr bwMode="auto">
          <a:xfrm>
            <a:off x="357628" y="2402194"/>
            <a:ext cx="1570744" cy="1524000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3" name="Diamond 32"/>
          <p:cNvSpPr/>
          <p:nvPr userDrawn="1"/>
        </p:nvSpPr>
        <p:spPr bwMode="auto">
          <a:xfrm>
            <a:off x="205228" y="5826919"/>
            <a:ext cx="1570744" cy="1524000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1" name="Diamond 30"/>
          <p:cNvSpPr/>
          <p:nvPr userDrawn="1"/>
        </p:nvSpPr>
        <p:spPr bwMode="auto">
          <a:xfrm>
            <a:off x="6553200" y="3314700"/>
            <a:ext cx="1570744" cy="1524000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4" name="Diamond 23"/>
          <p:cNvSpPr/>
          <p:nvPr userDrawn="1"/>
        </p:nvSpPr>
        <p:spPr bwMode="auto">
          <a:xfrm>
            <a:off x="1669256" y="4764881"/>
            <a:ext cx="685800" cy="638175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26" name="Picture 4" descr="ag00291_"/>
          <p:cNvPicPr>
            <a:picLocks noChangeAspect="1" noChangeArrowheads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050"/>
            <a:ext cx="1952625" cy="828675"/>
          </a:xfrm>
          <a:prstGeom prst="rect">
            <a:avLst/>
          </a:prstGeom>
          <a:noFill/>
          <a:ln>
            <a:noFill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 userDrawn="1"/>
        </p:nvSpPr>
        <p:spPr>
          <a:xfrm>
            <a:off x="570492" y="2767012"/>
            <a:ext cx="7800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Demo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747712" y="3810000"/>
            <a:ext cx="8153400" cy="604837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Demo Topic</a:t>
            </a:r>
            <a:endParaRPr lang="en-US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562474"/>
            <a:ext cx="7948612" cy="390526"/>
          </a:xfrm>
        </p:spPr>
        <p:txBody>
          <a:bodyPr/>
          <a:lstStyle>
            <a:lvl1pPr marL="0" indent="0">
              <a:buFontTx/>
              <a:buNone/>
              <a:defRPr sz="2000" baseline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Demosolution.sln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bg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sp>
        <p:nvSpPr>
          <p:cNvPr id="2" name="Diamond 1"/>
          <p:cNvSpPr/>
          <p:nvPr userDrawn="1"/>
        </p:nvSpPr>
        <p:spPr bwMode="auto">
          <a:xfrm>
            <a:off x="1371600" y="457200"/>
            <a:ext cx="685800" cy="638175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2" name="Diamond 21"/>
          <p:cNvSpPr/>
          <p:nvPr userDrawn="1"/>
        </p:nvSpPr>
        <p:spPr bwMode="auto">
          <a:xfrm>
            <a:off x="2711957" y="1362075"/>
            <a:ext cx="685800" cy="638175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3" name="Diamond 22"/>
          <p:cNvSpPr/>
          <p:nvPr userDrawn="1"/>
        </p:nvSpPr>
        <p:spPr bwMode="auto">
          <a:xfrm>
            <a:off x="2964656" y="2915082"/>
            <a:ext cx="685800" cy="638175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0" name="Diamond 29"/>
          <p:cNvSpPr/>
          <p:nvPr userDrawn="1"/>
        </p:nvSpPr>
        <p:spPr bwMode="auto">
          <a:xfrm>
            <a:off x="7357200" y="900112"/>
            <a:ext cx="685800" cy="638175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2" name="Diamond 31"/>
          <p:cNvSpPr/>
          <p:nvPr userDrawn="1"/>
        </p:nvSpPr>
        <p:spPr bwMode="auto">
          <a:xfrm>
            <a:off x="3886200" y="4417913"/>
            <a:ext cx="1570744" cy="1524000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4" name="Diamond 33"/>
          <p:cNvSpPr/>
          <p:nvPr userDrawn="1"/>
        </p:nvSpPr>
        <p:spPr bwMode="auto">
          <a:xfrm>
            <a:off x="5092950" y="945356"/>
            <a:ext cx="1570744" cy="1524000"/>
          </a:xfrm>
          <a:prstGeom prst="diamond">
            <a:avLst/>
          </a:prstGeom>
          <a:noFill/>
          <a:ln w="9525" cap="flat" cmpd="sng" algn="ctr">
            <a:solidFill>
              <a:schemeClr val="bg1">
                <a:lumMod val="95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5359257"/>
      </p:ext>
    </p:extLst>
  </p:cSld>
  <p:clrMapOvr>
    <a:masterClrMapping/>
  </p:clrMapOvr>
  <p:transition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45720"/>
          <a:lstStyle>
            <a:lvl1pPr>
              <a:defRPr>
                <a:solidFill>
                  <a:srgbClr val="3399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/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416374"/>
      </p:ext>
    </p:extLst>
  </p:cSld>
  <p:clrMapOvr>
    <a:masterClrMapping/>
  </p:clrMapOvr>
  <p:transition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45720" rIns="91440" bIns="91440"/>
          <a:lstStyle>
            <a:lvl1pPr>
              <a:defRPr lang="en-US" sz="4400" dirty="0">
                <a:solidFill>
                  <a:srgbClr val="3399FF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1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pic>
        <p:nvPicPr>
          <p:cNvPr id="6" name="Content Placeholder 6" descr="MCj00787110000[1]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828800"/>
            <a:ext cx="1622066" cy="393430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9731468"/>
      </p:ext>
    </p:extLst>
  </p:cSld>
  <p:clrMapOvr>
    <a:masterClrMapping/>
  </p:clrMapOvr>
  <p:transition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48" y="0"/>
            <a:ext cx="8357952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-7034" y="1295400"/>
            <a:ext cx="9151034" cy="5029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182880" tIns="91440" rIns="182880" bIns="91440" anchor="ctr" anchorCtr="0">
            <a:noAutofit/>
          </a:bodyPr>
          <a:lstStyle>
            <a:lvl1pPr marL="0" indent="0">
              <a:buFontTx/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/>
              <a:t>Code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-7033" y="787400"/>
            <a:ext cx="9151033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91440" tIns="91440"/>
          <a:lstStyle>
            <a:lvl1pPr marL="0" indent="0">
              <a:buFontTx/>
              <a:buNone/>
              <a:defRPr sz="2400" b="0">
                <a:solidFill>
                  <a:srgbClr val="3399FF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Code Description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/>
            </a:lvl1pPr>
          </a:lstStyle>
          <a:p>
            <a:pPr>
              <a:defRPr/>
            </a:pPr>
            <a:r>
              <a:rPr lang="en-US" dirty="0"/>
              <a:t>01/29/2026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575456"/>
      </p:ext>
    </p:extLst>
  </p:cSld>
  <p:clrMapOvr>
    <a:masterClrMapping/>
  </p:clrMapOvr>
  <p:transition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48" y="0"/>
            <a:ext cx="8357952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-7034" y="1295400"/>
            <a:ext cx="9151034" cy="5029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182880" tIns="182880" rIns="182880" bIns="91440" anchor="t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Arial" panose="020B0604020202020204" pitchFamily="34" charset="0"/>
              <a:buNone/>
              <a:tabLst/>
              <a:defRPr sz="1600" baseline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itchFamily="2" charset="2"/>
              <a:buChar char="n"/>
              <a:tabLst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F01"/>
              </a:buClr>
              <a:buSzPct val="55000"/>
              <a:buFont typeface="Wingdings" pitchFamily="2" charset="2"/>
              <a:buChar char="n"/>
              <a:tabLst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50000"/>
              <a:buFont typeface="Wingdings" pitchFamily="2" charset="2"/>
              <a:buChar char="n"/>
              <a:tabLst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r>
              <a:rPr lang="en-US" dirty="0"/>
              <a:t>Code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mtClean="0"/>
            </a:lvl1pPr>
          </a:lstStyle>
          <a:p>
            <a:pPr>
              <a:defRPr/>
            </a:pPr>
            <a:r>
              <a:rPr lang="en-US" dirty="0"/>
              <a:t>01/29/2026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-7033" y="787400"/>
            <a:ext cx="9151033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91440" tIns="91440"/>
          <a:lstStyle>
            <a:lvl1pPr marL="0" indent="0">
              <a:buFontTx/>
              <a:buNone/>
              <a:defRPr sz="2400" b="0">
                <a:solidFill>
                  <a:srgbClr val="3399FF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Code Description</a:t>
            </a:r>
          </a:p>
        </p:txBody>
      </p:sp>
    </p:spTree>
    <p:extLst>
      <p:ext uri="{BB962C8B-B14F-4D97-AF65-F5344CB8AC3E}">
        <p14:creationId xmlns:p14="http://schemas.microsoft.com/office/powerpoint/2010/main" val="1391966312"/>
      </p:ext>
    </p:extLst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524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676400"/>
            <a:ext cx="77724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2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z="80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latin typeface="+mn-lt"/>
              </a:defRPr>
            </a:lvl1pPr>
          </a:lstStyle>
          <a:p>
            <a:pPr algn="ctr">
              <a:defRPr/>
            </a:pPr>
            <a:r>
              <a:rPr lang="en-US" dirty="0"/>
              <a:t>CSCI-E35 Joseph Ficara Copyright © 2012-2015 Version 9.0.43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F5ED87-C1FB-41F8-8C0F-463EB5E1BC0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649" y="352293"/>
            <a:ext cx="971686" cy="9431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7" r:id="rId1"/>
    <p:sldLayoutId id="2147484127" r:id="rId2"/>
    <p:sldLayoutId id="2147484129" r:id="rId3"/>
    <p:sldLayoutId id="2147484138" r:id="rId4"/>
    <p:sldLayoutId id="2147484152" r:id="rId5"/>
    <p:sldLayoutId id="2147484139" r:id="rId6"/>
    <p:sldLayoutId id="2147484140" r:id="rId7"/>
    <p:sldLayoutId id="2147484141" r:id="rId8"/>
    <p:sldLayoutId id="2147484151" r:id="rId9"/>
    <p:sldLayoutId id="2147484131" r:id="rId10"/>
    <p:sldLayoutId id="2147484149" r:id="rId11"/>
  </p:sldLayoutIdLst>
  <p:transition>
    <p:push/>
  </p:transition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4400" dirty="0" smtClean="0">
          <a:solidFill>
            <a:srgbClr val="3399FF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Segoe UI Light" panose="020B0502040204020203" pitchFamily="34" charset="0"/>
          <a:cs typeface="Segoe UI Light" panose="020B0502040204020203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2FBB2F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Segoe UI Light" panose="020B0502040204020203" pitchFamily="34" charset="0"/>
          <a:cs typeface="Segoe UI Light" panose="020B0502040204020203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Segoe UI Light" panose="020B0502040204020203" pitchFamily="34" charset="0"/>
          <a:cs typeface="Segoe UI Light" panose="020B0502040204020203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71AAFF"/>
        </a:buClr>
        <a:buSzPct val="50000"/>
        <a:buFont typeface="Wingdings" pitchFamily="2" charset="2"/>
        <a:buChar char="n"/>
        <a:defRPr sz="1800">
          <a:solidFill>
            <a:schemeClr val="tx1"/>
          </a:solidFill>
          <a:latin typeface="Segoe UI Light" panose="020B0502040204020203" pitchFamily="34" charset="0"/>
          <a:cs typeface="Segoe UI Light" panose="020B0502040204020203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Segoe UI Light" panose="020B0502040204020203" pitchFamily="34" charset="0"/>
          <a:cs typeface="Segoe UI Light" panose="020B0502040204020203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581341" y="6473338"/>
            <a:ext cx="412750" cy="233362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 userDrawn="1">
            <p:ph type="dt" sz="quarter" idx="2"/>
          </p:nvPr>
        </p:nvSpPr>
        <p:spPr>
          <a:xfrm>
            <a:off x="204359" y="6477000"/>
            <a:ext cx="732266" cy="228600"/>
          </a:xfrm>
          <a:prstGeom prst="rect">
            <a:avLst/>
          </a:prstGeom>
        </p:spPr>
        <p:txBody>
          <a:bodyPr/>
          <a:lstStyle>
            <a:lvl1pPr>
              <a:defRPr lang="en-US" sz="80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01/29/2026</a:t>
            </a:r>
          </a:p>
        </p:txBody>
      </p:sp>
      <p:sp>
        <p:nvSpPr>
          <p:cNvPr id="20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990600" y="6472238"/>
            <a:ext cx="7543800" cy="233362"/>
          </a:xfrm>
          <a:prstGeom prst="rect">
            <a:avLst/>
          </a:prstGeom>
        </p:spPr>
        <p:txBody>
          <a:bodyPr/>
          <a:lstStyle>
            <a:lvl1pPr>
              <a:defRPr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sp>
        <p:nvSpPr>
          <p:cNvPr id="22" name="Title Placeholder 9"/>
          <p:cNvSpPr>
            <a:spLocks noGrp="1" noChangeArrowheads="1"/>
          </p:cNvSpPr>
          <p:nvPr>
            <p:ph type="title"/>
          </p:nvPr>
        </p:nvSpPr>
        <p:spPr bwMode="auto">
          <a:xfrm>
            <a:off x="786048" y="0"/>
            <a:ext cx="8357952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7EE487-E697-460E-8587-79EA402124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603" y="1"/>
            <a:ext cx="785091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4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50" r:id="rId2"/>
  </p:sldLayoutIdLst>
  <p:transition>
    <p:push/>
  </p:transition>
  <p:hf hdr="0"/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rgbClr val="3399FF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education/about-github-education/github-education-for-students/apply-to-github-education-as-a-stude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harvard.edu/courses/166214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vs/community/" TargetMode="External"/><Relationship Id="rId2" Type="http://schemas.openxmlformats.org/officeDocument/2006/relationships/hyperlink" Target="https://learn.microsoft.com/en-us/visualstudio/releases/2026/vs-system-requiremen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anvas.harvard.edu/courses/166214/pages/lecture-and-section-packs-supplemental-videos-and-software-links#msft-acct-setup" TargetMode="External"/><Relationship Id="rId2" Type="http://schemas.openxmlformats.org/officeDocument/2006/relationships/hyperlink" Target="https://canvas.harvard.edu/courses/166214/pages/welcome-letter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community/education/#students/" TargetMode="External"/><Relationship Id="rId2" Type="http://schemas.openxmlformats.org/officeDocument/2006/relationships/hyperlink" Target="http://www.onthehub.com/parallels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account.microsoft.com/account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 Overview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01/29/2026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31201"/>
      </p:ext>
    </p:extLst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Overview</a:t>
            </a:r>
          </a:p>
          <a:p>
            <a:pPr lvl="1"/>
            <a:r>
              <a:rPr lang="en-US" dirty="0"/>
              <a:t>First Night</a:t>
            </a:r>
          </a:p>
          <a:p>
            <a:pPr lvl="1"/>
            <a:r>
              <a:rPr lang="en-US" dirty="0"/>
              <a:t>Teaching Staff</a:t>
            </a:r>
          </a:p>
          <a:p>
            <a:pPr lvl="1"/>
            <a:r>
              <a:rPr lang="en-US" dirty="0"/>
              <a:t>What the course covers</a:t>
            </a:r>
          </a:p>
          <a:p>
            <a:pPr lvl="1"/>
            <a:r>
              <a:rPr lang="en-US" dirty="0"/>
              <a:t>Course Coverage FAQs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15155"/>
      </p:ext>
    </p:extLst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Overview …</a:t>
            </a:r>
          </a:p>
          <a:p>
            <a:pPr lvl="1"/>
            <a:r>
              <a:rPr lang="en-US" dirty="0"/>
              <a:t>House Rules</a:t>
            </a:r>
          </a:p>
          <a:p>
            <a:pPr lvl="1"/>
            <a:r>
              <a:rPr lang="en-US" dirty="0"/>
              <a:t>Use of AI</a:t>
            </a:r>
          </a:p>
          <a:p>
            <a:pPr lvl="1"/>
            <a:r>
              <a:rPr lang="en-US" dirty="0"/>
              <a:t>Grading</a:t>
            </a:r>
          </a:p>
          <a:p>
            <a:pPr lvl="1"/>
            <a:r>
              <a:rPr lang="en-US" dirty="0"/>
              <a:t>Development Hardware &amp; Tools</a:t>
            </a:r>
          </a:p>
          <a:p>
            <a:pPr lvl="1"/>
            <a:r>
              <a:rPr lang="en-US" dirty="0"/>
              <a:t>Some more FAQs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30430"/>
      </p:ext>
    </p:extLst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Night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Class Overview</a:t>
            </a:r>
          </a:p>
          <a:p>
            <a:r>
              <a:rPr lang="en-US" sz="2800" dirty="0"/>
              <a:t>Assignment 01 Overview</a:t>
            </a:r>
          </a:p>
          <a:p>
            <a:r>
              <a:rPr lang="en-US" sz="2800" dirty="0"/>
              <a:t>ASP NET Web API REST Introduction</a:t>
            </a:r>
          </a:p>
          <a:p>
            <a:r>
              <a:rPr lang="en-US" sz="2800" dirty="0"/>
              <a:t>Microsoft Foundry Part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08416"/>
      </p:ext>
    </p:extLst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Overview- Teaching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Who</a:t>
            </a:r>
          </a:p>
          <a:p>
            <a:pPr lvl="1"/>
            <a:r>
              <a:rPr lang="en-US" sz="2400" dirty="0"/>
              <a:t>Instructor</a:t>
            </a:r>
          </a:p>
          <a:p>
            <a:pPr lvl="2"/>
            <a:r>
              <a:rPr lang="en-US" sz="2000" dirty="0"/>
              <a:t>Joseph Ficara</a:t>
            </a:r>
          </a:p>
          <a:p>
            <a:pPr lvl="1"/>
            <a:r>
              <a:rPr lang="en-US" sz="2400" dirty="0"/>
              <a:t>Head TA</a:t>
            </a:r>
          </a:p>
          <a:p>
            <a:pPr lvl="2"/>
            <a:r>
              <a:rPr lang="en-US" sz="2000" dirty="0"/>
              <a:t>Jonathan Franck</a:t>
            </a:r>
          </a:p>
          <a:p>
            <a:pPr lvl="1"/>
            <a:r>
              <a:rPr lang="en-US" sz="2400" dirty="0"/>
              <a:t>TAs</a:t>
            </a:r>
          </a:p>
          <a:p>
            <a:pPr lvl="2"/>
            <a:r>
              <a:rPr lang="en-US" sz="2000" dirty="0"/>
              <a:t>Max Eringros</a:t>
            </a:r>
          </a:p>
          <a:p>
            <a:pPr lvl="2"/>
            <a:r>
              <a:rPr lang="en-US" sz="2000" dirty="0"/>
              <a:t>Jessica Pratt</a:t>
            </a:r>
          </a:p>
          <a:p>
            <a:pPr lvl="2"/>
            <a:r>
              <a:rPr lang="en-US" sz="2000" dirty="0"/>
              <a:t>Nancy Forero</a:t>
            </a:r>
          </a:p>
          <a:p>
            <a:pPr lvl="2"/>
            <a:r>
              <a:rPr lang="en-US" sz="2000" dirty="0"/>
              <a:t>Gustavo Varo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39803"/>
      </p:ext>
    </p:extLst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depth coverage</a:t>
            </a:r>
          </a:p>
          <a:p>
            <a:pPr lvl="1"/>
            <a:r>
              <a:rPr lang="en-US" dirty="0"/>
              <a:t>Key Microsoft Azure PaaS offerings</a:t>
            </a:r>
          </a:p>
          <a:p>
            <a:r>
              <a:rPr lang="en-US" dirty="0"/>
              <a:t>Essentials</a:t>
            </a:r>
          </a:p>
          <a:p>
            <a:pPr lvl="1"/>
            <a:r>
              <a:rPr lang="en-US" dirty="0"/>
              <a:t>Microsoft Azure Serverless</a:t>
            </a:r>
          </a:p>
          <a:p>
            <a:pPr lvl="1"/>
            <a:r>
              <a:rPr lang="en-US" dirty="0"/>
              <a:t>.NET 10</a:t>
            </a:r>
          </a:p>
          <a:p>
            <a:pPr lvl="2"/>
            <a:r>
              <a:rPr lang="en-US" dirty="0"/>
              <a:t>Web API &amp; MVC, Middleware, Entity Framework</a:t>
            </a:r>
          </a:p>
          <a:p>
            <a:pPr lvl="1" algn="just"/>
            <a:r>
              <a:rPr lang="en-US" dirty="0"/>
              <a:t>VNETs</a:t>
            </a:r>
          </a:p>
          <a:p>
            <a:pPr lvl="1"/>
            <a:r>
              <a:rPr lang="en-US" dirty="0"/>
              <a:t>CICD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01/10/2015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66719"/>
      </p:ext>
    </p:extLst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Fundamentals</a:t>
            </a:r>
          </a:p>
          <a:p>
            <a:pPr lvl="1"/>
            <a:r>
              <a:rPr lang="en-US" dirty="0"/>
              <a:t>REST</a:t>
            </a:r>
          </a:p>
          <a:p>
            <a:pPr lvl="2"/>
            <a:r>
              <a:rPr lang="en-US" dirty="0"/>
              <a:t>Scalable REST  Services</a:t>
            </a:r>
          </a:p>
          <a:p>
            <a:pPr lvl="1"/>
            <a:r>
              <a:rPr lang="en-US" dirty="0"/>
              <a:t>Security (Authentication &amp; Authorization)</a:t>
            </a:r>
          </a:p>
          <a:p>
            <a:pPr lvl="1"/>
            <a:r>
              <a:rPr lang="en-US" dirty="0"/>
              <a:t>Multi-tenancy </a:t>
            </a:r>
          </a:p>
          <a:p>
            <a:pPr lvl="1"/>
            <a:r>
              <a:rPr lang="en-US" dirty="0"/>
              <a:t>Architectural Patterns</a:t>
            </a:r>
          </a:p>
          <a:p>
            <a:pPr lvl="2"/>
            <a:r>
              <a:rPr lang="en-US" sz="2000" dirty="0"/>
              <a:t>Cache-Aside</a:t>
            </a:r>
          </a:p>
          <a:p>
            <a:pPr lvl="2"/>
            <a:r>
              <a:rPr lang="en-US" sz="2000" dirty="0"/>
              <a:t>Pushback, Throttling</a:t>
            </a:r>
          </a:p>
          <a:p>
            <a:pPr lvl="2"/>
            <a:r>
              <a:rPr lang="en-US" sz="2000" dirty="0"/>
              <a:t>Retry &amp; Circuit breaker</a:t>
            </a:r>
          </a:p>
          <a:p>
            <a:pPr lvl="2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/>
              <a:t>ommand and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000" dirty="0"/>
              <a:t>uery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dirty="0"/>
              <a:t>esponsibility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/>
              <a:t>egregation</a:t>
            </a:r>
          </a:p>
          <a:p>
            <a:pPr lvl="2"/>
            <a:r>
              <a:rPr lang="en-US" sz="2000" dirty="0"/>
              <a:t>And more…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68610"/>
      </p:ext>
    </p:extLst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Fundamentals …</a:t>
            </a:r>
          </a:p>
          <a:p>
            <a:pPr lvl="1"/>
            <a:r>
              <a:rPr lang="en-US" dirty="0"/>
              <a:t>Azure AI – Open AI</a:t>
            </a:r>
          </a:p>
          <a:p>
            <a:pPr lvl="2"/>
            <a:r>
              <a:rPr lang="en-US" sz="2000" dirty="0"/>
              <a:t>What is offered in Azure</a:t>
            </a:r>
          </a:p>
          <a:p>
            <a:pPr lvl="3"/>
            <a:r>
              <a:rPr lang="en-US" sz="1800" dirty="0"/>
              <a:t>Focus on </a:t>
            </a:r>
            <a:r>
              <a:rPr lang="en-US" sz="1800" b="1" dirty="0"/>
              <a:t>Azure AI Foundry</a:t>
            </a:r>
          </a:p>
          <a:p>
            <a:pPr lvl="2"/>
            <a:r>
              <a:rPr lang="en-US" sz="2000" dirty="0"/>
              <a:t>Microsoft Agent Framework</a:t>
            </a:r>
          </a:p>
          <a:p>
            <a:pPr lvl="3"/>
            <a:r>
              <a:rPr lang="en-US" sz="1800" dirty="0"/>
              <a:t>Integrating AI into your Applications</a:t>
            </a:r>
          </a:p>
          <a:p>
            <a:pPr lvl="3"/>
            <a:r>
              <a:rPr lang="en-US" sz="1800" dirty="0"/>
              <a:t>AI Orchestration &amp; Agents, Plugins, Prompts &amp; Plans</a:t>
            </a:r>
          </a:p>
          <a:p>
            <a:pPr lvl="2"/>
            <a:r>
              <a:rPr lang="en-US" sz="2000" dirty="0"/>
              <a:t>LLM Overview</a:t>
            </a:r>
          </a:p>
          <a:p>
            <a:pPr lvl="2"/>
            <a:r>
              <a:rPr lang="en-US" sz="2000" dirty="0"/>
              <a:t>Prompt Engineering</a:t>
            </a:r>
          </a:p>
          <a:p>
            <a:pPr lvl="2"/>
            <a:r>
              <a:rPr lang="en-US" sz="2000" dirty="0"/>
              <a:t>Embedding</a:t>
            </a:r>
          </a:p>
          <a:p>
            <a:pPr lvl="2"/>
            <a:r>
              <a:rPr lang="en-US" sz="2000" dirty="0"/>
              <a:t>Fine Tuning</a:t>
            </a:r>
          </a:p>
          <a:p>
            <a:pPr lvl="2"/>
            <a:r>
              <a:rPr lang="en-US" sz="2000" dirty="0"/>
              <a:t>Best practices &amp; Considerations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533017"/>
      </p:ext>
    </p:extLst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DF41-E463-0E29-F02E-C8AD02B0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43C74-3F0F-0EA0-76A8-3B752B92E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B06C2-0D90-073B-7ED7-8D424B70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Fundamentals …</a:t>
            </a:r>
          </a:p>
          <a:p>
            <a:pPr lvl="1"/>
            <a:r>
              <a:rPr lang="en-US" dirty="0"/>
              <a:t>AI an essential tool for software development</a:t>
            </a:r>
          </a:p>
          <a:p>
            <a:pPr lvl="2"/>
            <a:r>
              <a:rPr lang="en-US" dirty="0"/>
              <a:t>GitHub Copilot Fundamentals</a:t>
            </a:r>
          </a:p>
          <a:p>
            <a:pPr lvl="2"/>
            <a:r>
              <a:rPr lang="en-US" dirty="0"/>
              <a:t>Techniques for get better results</a:t>
            </a:r>
          </a:p>
          <a:p>
            <a:pPr lvl="2"/>
            <a:r>
              <a:rPr lang="en-US" dirty="0"/>
              <a:t>Interactive and async Agent mode</a:t>
            </a:r>
          </a:p>
          <a:p>
            <a:pPr lvl="2"/>
            <a:r>
              <a:rPr lang="en-US" dirty="0"/>
              <a:t>Remember you own the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91E4C-6B34-CCED-F75C-A2051A2C5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8DA3-6BF4-9CA8-0C57-C887967B40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4EC64-0D82-B411-2089-E216F5255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108518"/>
      </p:ext>
    </p:extLst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  <a:p>
            <a:pPr lvl="1"/>
            <a:r>
              <a:rPr lang="en-US" dirty="0"/>
              <a:t>Lectures</a:t>
            </a:r>
          </a:p>
          <a:p>
            <a:pPr lvl="1"/>
            <a:r>
              <a:rPr lang="en-US" dirty="0"/>
              <a:t>Sections</a:t>
            </a:r>
          </a:p>
          <a:p>
            <a:pPr lvl="1"/>
            <a:r>
              <a:rPr lang="en-US" dirty="0"/>
              <a:t>Course Work</a:t>
            </a:r>
          </a:p>
          <a:p>
            <a:pPr lvl="2"/>
            <a:r>
              <a:rPr lang="en-US" dirty="0"/>
              <a:t>Homework assignments</a:t>
            </a:r>
          </a:p>
          <a:p>
            <a:pPr lvl="1"/>
            <a:r>
              <a:rPr lang="en-US" dirty="0"/>
              <a:t>Microsoft Teams </a:t>
            </a:r>
          </a:p>
          <a:p>
            <a:pPr lvl="2"/>
            <a:r>
              <a:rPr lang="en-US" dirty="0"/>
              <a:t>Place to ask async questions</a:t>
            </a:r>
          </a:p>
          <a:p>
            <a:pPr lvl="1"/>
            <a:r>
              <a:rPr lang="en-US" dirty="0"/>
              <a:t>Reading material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9232"/>
      </p:ext>
    </p:extLst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Coverage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 be successful if ?</a:t>
            </a:r>
          </a:p>
          <a:p>
            <a:pPr lvl="1"/>
            <a:r>
              <a:rPr lang="en-US" dirty="0"/>
              <a:t>I know Java, C++ </a:t>
            </a:r>
          </a:p>
          <a:p>
            <a:pPr lvl="2"/>
            <a:r>
              <a:rPr lang="en-US" dirty="0"/>
              <a:t>Some other OO language</a:t>
            </a:r>
          </a:p>
          <a:p>
            <a:r>
              <a:rPr lang="en-US" b="1" dirty="0">
                <a:solidFill>
                  <a:srgbClr val="1188FF"/>
                </a:solidFill>
              </a:rPr>
              <a:t>Yes,</a:t>
            </a:r>
            <a:r>
              <a:rPr lang="en-US" dirty="0"/>
              <a:t> if you are a quick study</a:t>
            </a:r>
          </a:p>
          <a:p>
            <a:pPr lvl="1"/>
            <a:r>
              <a:rPr lang="en-US" dirty="0"/>
              <a:t>You should be able to pickup C# easily </a:t>
            </a:r>
          </a:p>
          <a:p>
            <a:pPr lvl="1"/>
            <a:r>
              <a:rPr lang="en-US" dirty="0"/>
              <a:t>Teaching staff is well versed in C#</a:t>
            </a:r>
          </a:p>
          <a:p>
            <a:pPr lvl="2"/>
            <a:r>
              <a:rPr lang="en-US" dirty="0"/>
              <a:t>We can and </a:t>
            </a:r>
            <a:r>
              <a:rPr lang="en-US" b="1" dirty="0">
                <a:solidFill>
                  <a:srgbClr val="CC00CC"/>
                </a:solidFill>
              </a:rPr>
              <a:t>want to help you</a:t>
            </a:r>
            <a:r>
              <a:rPr lang="en-US" dirty="0">
                <a:solidFill>
                  <a:srgbClr val="CC00CC"/>
                </a:solidFill>
              </a:rPr>
              <a:t>!</a:t>
            </a:r>
          </a:p>
          <a:p>
            <a:pPr lvl="1"/>
            <a:r>
              <a:rPr lang="en-US" dirty="0"/>
              <a:t>In Section we will cover fundamentals of C#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46156"/>
      </p:ext>
    </p:extLst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Coverage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this class teach me …</a:t>
            </a:r>
          </a:p>
          <a:p>
            <a:pPr lvl="1"/>
            <a:r>
              <a:rPr lang="en-US" sz="2400" dirty="0"/>
              <a:t>Azure (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IaaS</a:t>
            </a:r>
            <a:r>
              <a:rPr lang="en-US" sz="2400" dirty="0"/>
              <a:t>) </a:t>
            </a:r>
            <a:r>
              <a:rPr lang="en-US" sz="2400" b="1" dirty="0"/>
              <a:t>I</a:t>
            </a:r>
            <a:r>
              <a:rPr lang="en-US" sz="2400" dirty="0"/>
              <a:t>nfrastructure </a:t>
            </a:r>
            <a:r>
              <a:rPr lang="en-US" sz="2400" b="1" dirty="0"/>
              <a:t>a</a:t>
            </a:r>
            <a:r>
              <a:rPr lang="en-US" sz="2400" dirty="0"/>
              <a:t>s </a:t>
            </a: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ervice ?</a:t>
            </a:r>
          </a:p>
          <a:p>
            <a:pPr lvl="2"/>
            <a:r>
              <a:rPr lang="en-US" sz="2000" dirty="0">
                <a:solidFill>
                  <a:srgbClr val="FF0000"/>
                </a:solidFill>
              </a:rPr>
              <a:t>No</a:t>
            </a:r>
          </a:p>
          <a:p>
            <a:pPr lvl="1"/>
            <a:r>
              <a:rPr lang="en-US" sz="2400" dirty="0"/>
              <a:t>Azure (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PaaS</a:t>
            </a:r>
            <a:r>
              <a:rPr lang="en-US" sz="2400" dirty="0"/>
              <a:t>)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2400" dirty="0"/>
              <a:t>latform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400" dirty="0"/>
              <a:t>s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400" dirty="0"/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400" dirty="0"/>
              <a:t>ervice services ?</a:t>
            </a:r>
          </a:p>
          <a:p>
            <a:pPr lvl="2"/>
            <a:r>
              <a:rPr lang="en-US" sz="2000" b="1" dirty="0">
                <a:solidFill>
                  <a:srgbClr val="1188FF"/>
                </a:solidFill>
              </a:rPr>
              <a:t>YES! </a:t>
            </a:r>
            <a:r>
              <a:rPr lang="en-US" sz="2000" b="1" i="1" dirty="0">
                <a:solidFill>
                  <a:srgbClr val="1188FF"/>
                </a:solidFill>
              </a:rPr>
              <a:t>(Many but not all…)</a:t>
            </a:r>
          </a:p>
          <a:p>
            <a:pPr lvl="1"/>
            <a:r>
              <a:rPr lang="en-US" sz="2400" dirty="0"/>
              <a:t>Azure Serverless</a:t>
            </a:r>
          </a:p>
          <a:p>
            <a:pPr lvl="2"/>
            <a:r>
              <a:rPr lang="en-US" sz="2000" b="1" dirty="0">
                <a:solidFill>
                  <a:srgbClr val="1188FF"/>
                </a:solidFill>
              </a:rPr>
              <a:t>YES!</a:t>
            </a:r>
            <a:r>
              <a:rPr lang="en-US" sz="2000" dirty="0"/>
              <a:t> Logic Apps and Azure Functions</a:t>
            </a:r>
          </a:p>
          <a:p>
            <a:pPr lvl="1"/>
            <a:r>
              <a:rPr lang="en-US" sz="2400" dirty="0"/>
              <a:t>How to</a:t>
            </a:r>
          </a:p>
          <a:p>
            <a:pPr lvl="2"/>
            <a:r>
              <a:rPr lang="en-US" sz="2000" dirty="0"/>
              <a:t>Build cloud native applications that run in Azure’s cloud ?</a:t>
            </a:r>
          </a:p>
          <a:p>
            <a:pPr lvl="3"/>
            <a:r>
              <a:rPr lang="en-US" sz="1800" b="1" dirty="0">
                <a:solidFill>
                  <a:srgbClr val="1188FF"/>
                </a:solidFill>
              </a:rPr>
              <a:t>YES!</a:t>
            </a:r>
            <a:endParaRPr lang="en-US" sz="1800" dirty="0"/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89344"/>
      </p:ext>
    </p:extLst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7572"/>
      </p:ext>
    </p:extLst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House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House Rules</a:t>
            </a:r>
          </a:p>
          <a:p>
            <a:pPr lvl="1"/>
            <a:r>
              <a:rPr lang="en-US" dirty="0"/>
              <a:t>Silence all noise making devices:</a:t>
            </a:r>
          </a:p>
          <a:p>
            <a:pPr lvl="2"/>
            <a:r>
              <a:rPr lang="en-US" dirty="0"/>
              <a:t>Cell phones, Laptop, tablet, etc.</a:t>
            </a:r>
          </a:p>
          <a:p>
            <a:pPr lvl="2"/>
            <a:r>
              <a:rPr lang="en-US" dirty="0"/>
              <a:t>Still rocking a pager ?</a:t>
            </a:r>
          </a:p>
          <a:p>
            <a:pPr lvl="3"/>
            <a:r>
              <a:rPr lang="en-US" dirty="0"/>
              <a:t>Good for you, but please silence it</a:t>
            </a:r>
          </a:p>
          <a:p>
            <a:r>
              <a:rPr lang="en-US" dirty="0"/>
              <a:t>We are remote</a:t>
            </a:r>
          </a:p>
          <a:p>
            <a:pPr lvl="1"/>
            <a:r>
              <a:rPr lang="en-US" dirty="0"/>
              <a:t>Turn on your camera for a better experience!</a:t>
            </a:r>
          </a:p>
          <a:p>
            <a:r>
              <a:rPr lang="en-US" dirty="0"/>
              <a:t>Ask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47042"/>
      </p:ext>
    </p:extLst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387B-8491-79A7-109A-8AC863DE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8663-C510-411D-86E6-39933964E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40425-8659-E7B8-3D5A-C246C73C9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Copilot is encouraged </a:t>
            </a:r>
          </a:p>
          <a:p>
            <a:pPr lvl="1"/>
            <a:r>
              <a:rPr lang="en-US" sz="2000" dirty="0"/>
              <a:t>As a learning and development tool for all assignments</a:t>
            </a:r>
          </a:p>
          <a:p>
            <a:pPr lvl="1"/>
            <a:r>
              <a:rPr lang="en-US" sz="2000" b="1" dirty="0"/>
              <a:t>Not required</a:t>
            </a:r>
          </a:p>
          <a:p>
            <a:r>
              <a:rPr lang="en-US" dirty="0"/>
              <a:t>All Copilot usage must be </a:t>
            </a:r>
          </a:p>
          <a:p>
            <a:pPr lvl="1"/>
            <a:r>
              <a:rPr lang="en-US" sz="2000" dirty="0"/>
              <a:t>Clearly </a:t>
            </a:r>
            <a:r>
              <a:rPr lang="en-US" sz="2000" b="1" dirty="0"/>
              <a:t>acknowledged</a:t>
            </a:r>
            <a:r>
              <a:rPr lang="en-US" sz="2000" dirty="0"/>
              <a:t> and </a:t>
            </a:r>
            <a:r>
              <a:rPr lang="en-US" sz="2000" b="1" dirty="0"/>
              <a:t>cited</a:t>
            </a:r>
            <a:r>
              <a:rPr lang="en-US" sz="2000" dirty="0"/>
              <a:t> in your </a:t>
            </a:r>
            <a:r>
              <a:rPr lang="en-US" sz="2000" b="1" dirty="0">
                <a:solidFill>
                  <a:srgbClr val="C00000"/>
                </a:solidFill>
              </a:rPr>
              <a:t>projectnotes.md </a:t>
            </a:r>
            <a:r>
              <a:rPr lang="en-US" sz="2000" dirty="0"/>
              <a:t>file</a:t>
            </a:r>
            <a:endParaRPr lang="en-US" sz="2000" b="1" dirty="0"/>
          </a:p>
          <a:p>
            <a:pPr lvl="1"/>
            <a:r>
              <a:rPr lang="en-US" sz="2000" dirty="0"/>
              <a:t>Include instruction files, skills, AGENTS.md, prompts, and any MCP servers used, </a:t>
            </a:r>
            <a:r>
              <a:rPr lang="en-US" sz="2000" b="1" dirty="0">
                <a:solidFill>
                  <a:srgbClr val="FF0000"/>
                </a:solidFill>
              </a:rPr>
              <a:t>basically everything and anything you provided to the AI for context, constraints and instruction</a:t>
            </a:r>
            <a:r>
              <a:rPr lang="en-US" sz="2000" dirty="0"/>
              <a:t>.</a:t>
            </a:r>
          </a:p>
          <a:p>
            <a:r>
              <a:rPr lang="en-US" dirty="0"/>
              <a:t>Students are responsible for evaluating </a:t>
            </a:r>
          </a:p>
          <a:p>
            <a:pPr lvl="1"/>
            <a:r>
              <a:rPr lang="en-US" sz="2000" dirty="0"/>
              <a:t>The accuracy &amp; appropriateness of Copilot-generated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A8085-F8F3-3D0A-7A66-3390D27B8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BC560-0A58-3183-7504-3F8BFE6A4F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4A766-55D7-D1C6-5575-E03EE2A7B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957266"/>
      </p:ext>
    </p:extLst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093DA-F482-2171-5B60-2D5C4C18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8FE1-DC27-DCAC-F4EF-A720B799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805AF-210A-7405-A767-74D96151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must </a:t>
            </a:r>
          </a:p>
          <a:p>
            <a:pPr lvl="1"/>
            <a:r>
              <a:rPr lang="en-US" sz="2400" b="1" dirty="0"/>
              <a:t>Fully understand</a:t>
            </a:r>
            <a:r>
              <a:rPr lang="en-US" sz="2400" dirty="0"/>
              <a:t> &amp; </a:t>
            </a:r>
            <a:r>
              <a:rPr lang="en-US" sz="2400" b="1" dirty="0"/>
              <a:t>be able to explain </a:t>
            </a:r>
          </a:p>
          <a:p>
            <a:pPr lvl="2"/>
            <a:r>
              <a:rPr lang="en-US" sz="2000" dirty="0"/>
              <a:t>Any code generated by Copilot, TAs may ask</a:t>
            </a:r>
          </a:p>
          <a:p>
            <a:r>
              <a:rPr lang="en-US" dirty="0"/>
              <a:t>The course teaches </a:t>
            </a:r>
          </a:p>
          <a:p>
            <a:pPr lvl="1"/>
            <a:r>
              <a:rPr lang="en-US" sz="2400" dirty="0"/>
              <a:t>Effective &amp; responsible use of</a:t>
            </a:r>
          </a:p>
          <a:p>
            <a:pPr lvl="2"/>
            <a:r>
              <a:rPr lang="en-US" sz="2000" dirty="0"/>
              <a:t>AI Assisted development, focus on GitHub Copilot</a:t>
            </a:r>
          </a:p>
          <a:p>
            <a:pPr lvl="1"/>
            <a:r>
              <a:rPr lang="en-US" sz="2400" dirty="0"/>
              <a:t>Using AI to </a:t>
            </a:r>
          </a:p>
          <a:p>
            <a:pPr lvl="2"/>
            <a:r>
              <a:rPr lang="en-US" sz="2000" dirty="0"/>
              <a:t>Improve software development </a:t>
            </a:r>
          </a:p>
          <a:p>
            <a:pPr lvl="2"/>
            <a:r>
              <a:rPr lang="en-US" sz="2000" dirty="0"/>
              <a:t>Improve your understanding &amp; increase your skill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2A0E8-BAC0-54E1-7E0C-681F6C2F4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20026-B06D-7145-6EE0-59AE27893ED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37A2D-105E-9FED-6B20-3FEC90C9E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28336"/>
      </p:ext>
    </p:extLst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6698-17E9-CE35-DA30-05CFD218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D4B9-DFDE-1E5B-1652-38CD98FD8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Can I use AI to</a:t>
            </a:r>
          </a:p>
          <a:p>
            <a:pPr lvl="1"/>
            <a:r>
              <a:rPr lang="en-US" dirty="0"/>
              <a:t>Develop the assignment</a:t>
            </a:r>
          </a:p>
          <a:p>
            <a:pPr lvl="2"/>
            <a:r>
              <a:rPr lang="en-US" b="1" dirty="0">
                <a:solidFill>
                  <a:srgbClr val="00A500"/>
                </a:solidFill>
              </a:rPr>
              <a:t>Yes</a:t>
            </a:r>
          </a:p>
          <a:p>
            <a:pPr lvl="1"/>
            <a:r>
              <a:rPr lang="en-US" dirty="0"/>
              <a:t>To develop the extra credit</a:t>
            </a:r>
          </a:p>
          <a:p>
            <a:pPr lvl="2"/>
            <a:r>
              <a:rPr lang="en-US" b="1" dirty="0">
                <a:solidFill>
                  <a:srgbClr val="00A500"/>
                </a:solidFill>
              </a:rPr>
              <a:t>Yes</a:t>
            </a:r>
          </a:p>
          <a:p>
            <a:pPr lvl="1"/>
            <a:r>
              <a:rPr lang="en-US" dirty="0"/>
              <a:t>To build tests</a:t>
            </a:r>
          </a:p>
          <a:p>
            <a:pPr lvl="2"/>
            <a:r>
              <a:rPr lang="en-US" b="1" dirty="0">
                <a:solidFill>
                  <a:srgbClr val="00A500"/>
                </a:solidFill>
              </a:rPr>
              <a:t>Yes</a:t>
            </a:r>
          </a:p>
          <a:p>
            <a:r>
              <a:rPr lang="en-US" b="1" dirty="0"/>
              <a:t>Must I understand code that is generated</a:t>
            </a:r>
          </a:p>
          <a:p>
            <a:pPr lvl="1"/>
            <a:r>
              <a:rPr lang="en-US" b="1" dirty="0">
                <a:solidFill>
                  <a:srgbClr val="00A500"/>
                </a:solidFill>
              </a:rPr>
              <a:t>Yes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CA35F-F2BA-E858-F825-9CD19FC02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7D739-173B-15E9-2FAD-31B619744B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F828A-7E06-4B3D-AF5F-398AEACED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849489"/>
      </p:ext>
    </p:extLst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0161-0983-B230-4F37-A6EA7227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FABD-5E27-F112-3137-E47AC187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7CE6E-729F-1D0E-6A67-2D68ADE9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676400"/>
            <a:ext cx="7885112" cy="4724400"/>
          </a:xfrm>
        </p:spPr>
        <p:txBody>
          <a:bodyPr/>
          <a:lstStyle/>
          <a:p>
            <a:r>
              <a:rPr lang="en-US" sz="2400" dirty="0"/>
              <a:t>Can I use AI coding tools besides GitHub Copilot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No</a:t>
            </a:r>
            <a:endParaRPr lang="en-US" sz="1800" b="1" dirty="0">
              <a:solidFill>
                <a:srgbClr val="FF0000"/>
              </a:solidFill>
            </a:endParaRPr>
          </a:p>
          <a:p>
            <a:r>
              <a:rPr lang="en-US" sz="2400" dirty="0"/>
              <a:t>Do I have to pay for GitHub Copilot</a:t>
            </a:r>
          </a:p>
          <a:p>
            <a:pPr lvl="1"/>
            <a:r>
              <a:rPr lang="en-US" sz="2400" dirty="0"/>
              <a:t>Should be able to get an education grant</a:t>
            </a:r>
            <a:br>
              <a:rPr lang="en-US" sz="2400" dirty="0"/>
            </a:br>
            <a:r>
              <a:rPr lang="en-US" sz="1800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Apply to GitHub Education as a student - GitHub Docs</a:t>
            </a:r>
            <a:endParaRPr lang="en-US" sz="1800" dirty="0">
              <a:solidFill>
                <a:srgbClr val="7030A0"/>
              </a:solidFill>
            </a:endParaRPr>
          </a:p>
          <a:p>
            <a:pPr lvl="2"/>
            <a:r>
              <a:rPr lang="en-US" sz="1400" b="1" dirty="0">
                <a:solidFill>
                  <a:srgbClr val="7030A0"/>
                </a:solidFill>
              </a:rPr>
              <a:t>Only degree students receive Harvard domain emails which may affect eligibility </a:t>
            </a:r>
          </a:p>
          <a:p>
            <a:r>
              <a:rPr lang="en-US" sz="2400" dirty="0"/>
              <a:t>Can I use my company GitHub account</a:t>
            </a:r>
          </a:p>
          <a:p>
            <a:pPr lvl="1"/>
            <a:r>
              <a:rPr lang="en-US" sz="2000" b="1" dirty="0"/>
              <a:t>No</a:t>
            </a:r>
            <a:endParaRPr lang="en-US" sz="2400" b="1" dirty="0"/>
          </a:p>
          <a:p>
            <a:r>
              <a:rPr lang="en-US" sz="2400" dirty="0"/>
              <a:t>Can I provide the assignment to AI </a:t>
            </a:r>
            <a:br>
              <a:rPr lang="en-US" sz="2400" dirty="0"/>
            </a:br>
            <a:r>
              <a:rPr lang="en-US" sz="2000" dirty="0"/>
              <a:t>and have AI build the whole thing?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No, you must decompose the assignment yourself and learn AI assisted development techniques presented in class to achieve the desired result if you use AI assisted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A3461-40AD-33E7-5953-945019D19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D0788-8EE9-01DF-61B7-578CE1BC06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017E5-EAFD-FFC5-F27F-70B23ED38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164247"/>
      </p:ext>
    </p:extLst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993E-5DF6-2A09-D095-E0D828CF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431FF-1439-C726-B9EE-06722052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Students registered for Graduate Credit</a:t>
            </a:r>
          </a:p>
          <a:p>
            <a:pPr lvl="1"/>
            <a:r>
              <a:rPr lang="en-US" sz="2000" dirty="0"/>
              <a:t>Required to complete one extra credit option</a:t>
            </a:r>
          </a:p>
          <a:p>
            <a:pPr lvl="1"/>
            <a:r>
              <a:rPr lang="en-US" sz="2000" dirty="0"/>
              <a:t>The selected option </a:t>
            </a:r>
          </a:p>
          <a:p>
            <a:pPr lvl="2"/>
            <a:r>
              <a:rPr lang="en-US" sz="1800" dirty="0"/>
              <a:t>Must be from the </a:t>
            </a:r>
            <a:r>
              <a:rPr lang="en-US" sz="1800" b="1" dirty="0">
                <a:solidFill>
                  <a:srgbClr val="C00000"/>
                </a:solidFill>
              </a:rPr>
              <a:t>assignment's listed extra credit options</a:t>
            </a:r>
          </a:p>
          <a:p>
            <a:pPr lvl="2"/>
            <a:r>
              <a:rPr lang="en-US" sz="1800" dirty="0"/>
              <a:t>Is included in the </a:t>
            </a:r>
            <a:r>
              <a:rPr lang="en-US" sz="1800" b="1" dirty="0">
                <a:solidFill>
                  <a:srgbClr val="FF0000"/>
                </a:solidFill>
              </a:rPr>
              <a:t>base grade calculation</a:t>
            </a:r>
          </a:p>
          <a:p>
            <a:pPr lvl="2"/>
            <a:r>
              <a:rPr lang="en-US" sz="1800" b="1" dirty="0">
                <a:solidFill>
                  <a:srgbClr val="FF0000"/>
                </a:solidFill>
              </a:rPr>
              <a:t>Cannot increase the assignment score above 100%</a:t>
            </a:r>
          </a:p>
          <a:p>
            <a:pPr lvl="1"/>
            <a:r>
              <a:rPr lang="en-US" sz="2000" dirty="0"/>
              <a:t>If the required extra credit option is not completed</a:t>
            </a:r>
          </a:p>
          <a:p>
            <a:pPr lvl="2"/>
            <a:r>
              <a:rPr lang="en-US" sz="1800" dirty="0"/>
              <a:t>A point deduction will be applied</a:t>
            </a:r>
          </a:p>
          <a:p>
            <a:pPr lvl="2"/>
            <a:r>
              <a:rPr lang="en-US" sz="1800" dirty="0"/>
              <a:t>Deduction equals point value of lowest-value extra credit option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Additional</a:t>
            </a:r>
            <a:r>
              <a:rPr lang="en-US" sz="2000" b="1" dirty="0"/>
              <a:t> extra credit options</a:t>
            </a:r>
          </a:p>
          <a:p>
            <a:pPr lvl="2"/>
            <a:r>
              <a:rPr lang="en-US" sz="1800" dirty="0"/>
              <a:t>May be completed from the </a:t>
            </a:r>
            <a:r>
              <a:rPr lang="en-US" sz="1800" b="1" dirty="0">
                <a:solidFill>
                  <a:srgbClr val="C00000"/>
                </a:solidFill>
              </a:rPr>
              <a:t>assignment's </a:t>
            </a:r>
            <a:r>
              <a:rPr lang="en-US" sz="1800" b="1" u="sng" dirty="0">
                <a:solidFill>
                  <a:srgbClr val="C00000"/>
                </a:solidFill>
              </a:rPr>
              <a:t>listed options</a:t>
            </a:r>
          </a:p>
          <a:p>
            <a:pPr lvl="2"/>
            <a:r>
              <a:rPr lang="en-US" sz="1800" dirty="0"/>
              <a:t>Can be used to earn a score above 100%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93691-C65B-E976-1BAD-326766EC1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BA296-3B18-3040-02FD-0F9C7198DA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55533-A88F-62A3-B92D-526F0CEF5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70816"/>
      </p:ext>
    </p:extLst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Lowest assignment grade is dropped</a:t>
            </a:r>
          </a:p>
          <a:p>
            <a:pPr lvl="1"/>
            <a:r>
              <a:rPr lang="en-US" dirty="0"/>
              <a:t>Upload to canvas by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5:00 PM EST </a:t>
            </a:r>
            <a:r>
              <a:rPr lang="en-US" dirty="0"/>
              <a:t>date due</a:t>
            </a:r>
          </a:p>
          <a:p>
            <a:pPr lvl="2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Points deducted per day late</a:t>
            </a:r>
          </a:p>
          <a:p>
            <a:pPr lvl="2"/>
            <a:r>
              <a:rPr lang="en-US" dirty="0"/>
              <a:t>Assignments more than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 days late</a:t>
            </a:r>
          </a:p>
          <a:p>
            <a:pPr lvl="3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Receive a grade of 0%</a:t>
            </a:r>
          </a:p>
          <a:p>
            <a:pPr lv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Extra points</a:t>
            </a:r>
          </a:p>
          <a:p>
            <a:pPr lvl="2"/>
            <a:r>
              <a:rPr lang="en-US" dirty="0"/>
              <a:t>1 Point per day early up to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points max</a:t>
            </a:r>
          </a:p>
          <a:p>
            <a:pPr lvl="1"/>
            <a:r>
              <a:rPr lang="en-US" i="1" dirty="0"/>
              <a:t>See syllabus for more details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7675"/>
      </p:ext>
    </p:extLst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Grading</a:t>
            </a:r>
            <a:br>
              <a:rPr lang="en-US" dirty="0"/>
            </a:br>
            <a:r>
              <a:rPr lang="en-US" sz="2800" dirty="0"/>
              <a:t>Assignments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Accepted submission –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Canvas Website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Students' responsibility</a:t>
            </a:r>
          </a:p>
          <a:p>
            <a:pPr lvl="1"/>
            <a:r>
              <a:rPr lang="en-US" dirty="0"/>
              <a:t>Complete assignment &amp; submit it to canvas</a:t>
            </a:r>
          </a:p>
          <a:p>
            <a:pPr lvl="2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5:00 PM EST on due date</a:t>
            </a:r>
          </a:p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excuses accepted …</a:t>
            </a:r>
          </a:p>
          <a:p>
            <a:pPr lvl="1"/>
            <a:r>
              <a:rPr lang="en-US" sz="2400" dirty="0"/>
              <a:t>Corrupted Zip file, Computer Crashed</a:t>
            </a:r>
          </a:p>
          <a:p>
            <a:pPr lvl="1"/>
            <a:r>
              <a:rPr lang="en-US" sz="2400" dirty="0"/>
              <a:t>My clock was off</a:t>
            </a:r>
          </a:p>
          <a:p>
            <a:pPr lvl="1"/>
            <a:r>
              <a:rPr lang="en-US" sz="2400" dirty="0"/>
              <a:t>The internet was broken</a:t>
            </a:r>
          </a:p>
          <a:p>
            <a:pPr lvl="1"/>
            <a:r>
              <a:rPr lang="en-US" sz="2400" dirty="0"/>
              <a:t>My mouse ate it</a:t>
            </a:r>
          </a:p>
          <a:p>
            <a:pPr lvl="1"/>
            <a:r>
              <a:rPr lang="en-US" sz="2400" dirty="0"/>
              <a:t>Still late!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709595"/>
      </p:ext>
    </p:extLst>
  </p:cSld>
  <p:clrMapOvr>
    <a:masterClrMapping/>
  </p:clrMapOvr>
  <p:transition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Grading</a:t>
            </a:r>
            <a:br>
              <a:rPr lang="en-US" dirty="0"/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Assignments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 is assigned to grade your assignment</a:t>
            </a:r>
          </a:p>
          <a:p>
            <a:pPr lvl="1"/>
            <a:r>
              <a:rPr lang="en-US" dirty="0"/>
              <a:t>Assignments are posted in Microsoft Teams </a:t>
            </a:r>
          </a:p>
          <a:p>
            <a:pPr lvl="2"/>
            <a:r>
              <a:rPr lang="en-US" dirty="0"/>
              <a:t>Under the assignment channel</a:t>
            </a:r>
          </a:p>
          <a:p>
            <a:pPr lvl="2"/>
            <a:r>
              <a:rPr lang="en-US" dirty="0"/>
              <a:t>Grading TA changes for each assignment</a:t>
            </a:r>
          </a:p>
          <a:p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resubmits!</a:t>
            </a:r>
          </a:p>
          <a:p>
            <a:pPr lvl="1"/>
            <a:r>
              <a:rPr lang="en-US" i="1" dirty="0"/>
              <a:t>Unless requested by your grading TA</a:t>
            </a:r>
          </a:p>
          <a:p>
            <a:pPr lvl="2"/>
            <a:r>
              <a:rPr lang="en-US" dirty="0"/>
              <a:t>If resubmit is required by a TA?</a:t>
            </a:r>
          </a:p>
          <a:p>
            <a:pPr lvl="3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early submission extra credit points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forfeit</a:t>
            </a:r>
          </a:p>
          <a:p>
            <a:pPr lvl="1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57840"/>
      </p:ext>
    </p:extLst>
  </p:cSld>
  <p:clrMapOvr>
    <a:masterClrMapping/>
  </p:clrMapOvr>
  <p:transition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Evaluation (How you are graded)</a:t>
            </a:r>
          </a:p>
          <a:p>
            <a:pPr lv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 is 100% of your final grade</a:t>
            </a:r>
          </a:p>
          <a:p>
            <a:pPr lvl="2"/>
            <a:r>
              <a:rPr lang="en-US" dirty="0"/>
              <a:t>There are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dirty="0"/>
              <a:t> assignments </a:t>
            </a:r>
          </a:p>
          <a:p>
            <a:pPr lvl="2"/>
            <a:r>
              <a:rPr lang="en-US" dirty="0"/>
              <a:t>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with lowest grade is dropped</a:t>
            </a:r>
          </a:p>
          <a:p>
            <a:pPr lvl="2"/>
            <a:r>
              <a:rPr lang="en-US" dirty="0"/>
              <a:t>Student can skip a single assignment</a:t>
            </a:r>
          </a:p>
          <a:p>
            <a:pPr lvl="3"/>
            <a:r>
              <a:rPr lang="en-US" dirty="0"/>
              <a:t>Skipped assignment receives a score of zero</a:t>
            </a:r>
          </a:p>
          <a:p>
            <a:pPr lvl="4"/>
            <a:r>
              <a:rPr lang="en-US" dirty="0"/>
              <a:t>Is considered lowest grade and dropped</a:t>
            </a:r>
          </a:p>
          <a:p>
            <a:pPr lvl="4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Uses up the lowest grade dropped benefit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10447"/>
      </p:ext>
    </p:extLst>
  </p:cSld>
  <p:clrMapOvr>
    <a:masterClrMapping/>
  </p:clrMapOvr>
  <p:transition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0608F-6ED3-AF41-3D5A-7B38D492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A061-E211-9FC1-5450-879B5343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</a:t>
            </a:r>
            <a:br>
              <a:rPr lang="en-US" dirty="0"/>
            </a:br>
            <a:r>
              <a:rPr lang="en-US" sz="2800" dirty="0"/>
              <a:t>Assignments 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BDCE0-B338-CA82-8D9E-6E7A1CD2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Students are not permitted to make coursework </a:t>
            </a:r>
          </a:p>
          <a:p>
            <a:pPr lvl="1"/>
            <a:r>
              <a:rPr lang="en-US" sz="2400" dirty="0"/>
              <a:t>Open source</a:t>
            </a:r>
          </a:p>
          <a:p>
            <a:r>
              <a:rPr lang="en-US" sz="2800" dirty="0"/>
              <a:t>Students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keep all course work private</a:t>
            </a:r>
          </a:p>
          <a:p>
            <a:pPr lvl="1"/>
            <a:r>
              <a:rPr lang="en-US" sz="2400" dirty="0"/>
              <a:t>Repositories used for assignments must be private</a:t>
            </a:r>
          </a:p>
          <a:p>
            <a:pPr lvl="1"/>
            <a:r>
              <a:rPr lang="en-US" sz="2400" dirty="0"/>
              <a:t>Exceptions</a:t>
            </a:r>
          </a:p>
          <a:p>
            <a:pPr lvl="2"/>
            <a:r>
              <a:rPr lang="en-US" sz="2000" dirty="0"/>
              <a:t>Prospective employer</a:t>
            </a:r>
          </a:p>
          <a:p>
            <a:pPr lvl="2"/>
            <a:r>
              <a:rPr lang="en-US" sz="2000" dirty="0"/>
              <a:t>Showcase during section when permitted</a:t>
            </a:r>
          </a:p>
          <a:p>
            <a:pPr lvl="3"/>
            <a:r>
              <a:rPr lang="en-US" sz="1600" dirty="0"/>
              <a:t>TAs will coordinate section showcase sessions</a:t>
            </a:r>
          </a:p>
          <a:p>
            <a:r>
              <a:rPr lang="en-US" sz="2800" dirty="0"/>
              <a:t>Students are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permitted to share</a:t>
            </a:r>
          </a:p>
          <a:p>
            <a:pPr lvl="1"/>
            <a:r>
              <a:rPr lang="en-US" sz="2400" dirty="0"/>
              <a:t>Any course material, slides, videos, course work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B394B-AEED-2BC9-905E-8A9834827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C8319-0945-7566-C0C6-16E51A485D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1F4-BF02-5080-6BB5-1D773FD91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346676"/>
      </p:ext>
    </p:extLst>
  </p:cSld>
  <p:clrMapOvr>
    <a:masterClrMapping/>
  </p:clrMapOvr>
  <p:transition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276651"/>
      </p:ext>
    </p:extLst>
  </p:cSld>
  <p:clrMapOvr>
    <a:masterClrMapping/>
  </p:clrMapOvr>
  <p:transition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Logistics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Connectivity Requirements</a:t>
            </a:r>
          </a:p>
          <a:p>
            <a:pPr lvl="1"/>
            <a:r>
              <a:rPr lang="en-US" dirty="0"/>
              <a:t>Internet Access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Your favorite internet 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826798"/>
      </p:ext>
    </p:extLst>
  </p:cSld>
  <p:clrMapOvr>
    <a:masterClrMapping/>
  </p:clrMapOvr>
  <p:transition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Sections</a:t>
            </a:r>
          </a:p>
          <a:p>
            <a:pPr lvl="1"/>
            <a:r>
              <a:rPr lang="en-US" dirty="0"/>
              <a:t>Thursday from 5:30 to 6:30 PM EST</a:t>
            </a:r>
          </a:p>
          <a:p>
            <a:pPr lvl="2"/>
            <a:r>
              <a:rPr lang="en-US" dirty="0"/>
              <a:t>Student Q&amp;A &amp; supplemental content</a:t>
            </a:r>
          </a:p>
          <a:p>
            <a:pPr lvl="2"/>
            <a:r>
              <a:rPr lang="en-US" b="1" dirty="0"/>
              <a:t>Recorded</a:t>
            </a:r>
          </a:p>
          <a:p>
            <a:r>
              <a:rPr lang="en-US" b="1" dirty="0"/>
              <a:t>Instructor office hours</a:t>
            </a:r>
          </a:p>
          <a:p>
            <a:pPr lvl="1"/>
            <a:r>
              <a:rPr lang="en-US" dirty="0"/>
              <a:t>Typically, Saturday or Sunday 1-1.5 Hours</a:t>
            </a:r>
          </a:p>
          <a:p>
            <a:pPr lvl="2"/>
            <a:r>
              <a:rPr lang="en-US" dirty="0"/>
              <a:t>Day &amp; Time posted on Teams and Canvas</a:t>
            </a:r>
          </a:p>
          <a:p>
            <a:pPr lvl="2"/>
            <a:r>
              <a:rPr lang="en-US" dirty="0"/>
              <a:t>Student Q&amp;A &amp; supplemental content</a:t>
            </a:r>
          </a:p>
          <a:p>
            <a:pPr lvl="2"/>
            <a:r>
              <a:rPr lang="en-US" b="1" dirty="0"/>
              <a:t>Recorded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28093"/>
      </p:ext>
    </p:extLst>
  </p:cSld>
  <p:clrMapOvr>
    <a:masterClrMapping/>
  </p:clrMapOvr>
  <p:transition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-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Website</a:t>
            </a:r>
          </a:p>
          <a:p>
            <a:pPr lvl="1"/>
            <a:r>
              <a:rPr lang="en-US" u="sng" dirty="0">
                <a:hlinkClick r:id="rId2"/>
              </a:rPr>
              <a:t>https://canvas.harvard.edu/courses/166214</a:t>
            </a:r>
            <a:endParaRPr lang="en-US" u="sng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Harvard Key Credentials</a:t>
            </a:r>
          </a:p>
          <a:p>
            <a:pPr lvl="2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Login Name &amp; Password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57991"/>
      </p:ext>
    </p:extLst>
  </p:cSld>
  <p:clrMapOvr>
    <a:masterClrMapping/>
  </p:clrMapOvr>
  <p:transition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Class Website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https://canvas.harvard.edu/courses/166214</a:t>
            </a:r>
          </a:p>
        </p:txBody>
      </p:sp>
    </p:spTree>
    <p:extLst>
      <p:ext uri="{BB962C8B-B14F-4D97-AF65-F5344CB8AC3E}">
        <p14:creationId xmlns:p14="http://schemas.microsoft.com/office/powerpoint/2010/main" val="2113423101"/>
      </p:ext>
    </p:extLst>
  </p:cSld>
  <p:clrMapOvr>
    <a:masterClrMapping/>
  </p:clrMapOvr>
  <p:transition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Development Tools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r>
              <a:rPr lang="en-US" sz="2800" dirty="0"/>
              <a:t>Software &amp; Hardware</a:t>
            </a:r>
          </a:p>
          <a:p>
            <a:pPr lvl="1"/>
            <a:r>
              <a:rPr lang="en-US" sz="2400" dirty="0"/>
              <a:t>Windows 11 Professional, Mac or Linux</a:t>
            </a:r>
          </a:p>
          <a:p>
            <a:pPr lvl="1"/>
            <a:r>
              <a:rPr lang="en-US" sz="2400" dirty="0"/>
              <a:t>Visual Studio 2026 - Windows</a:t>
            </a:r>
          </a:p>
          <a:p>
            <a:pPr lvl="2"/>
            <a:r>
              <a:rPr lang="en-US" sz="2000" dirty="0"/>
              <a:t>Community, Pro or Enterprise with latest updates</a:t>
            </a:r>
            <a:br>
              <a:rPr lang="en-US" sz="2000" dirty="0"/>
            </a:br>
            <a:r>
              <a:rPr lang="en-US" sz="1800" dirty="0"/>
              <a:t>See hardware/software requirements </a:t>
            </a:r>
            <a:r>
              <a:rPr lang="en-US" sz="1800" dirty="0">
                <a:hlinkClick r:id="rId2"/>
              </a:rPr>
              <a:t>here</a:t>
            </a:r>
            <a:br>
              <a:rPr lang="en-US" sz="1800" dirty="0"/>
            </a:br>
            <a:r>
              <a:rPr lang="en-US" sz="1800" dirty="0"/>
              <a:t>Download Visual Studio 2026 Community </a:t>
            </a:r>
            <a:r>
              <a:rPr lang="en-US" sz="1800" dirty="0">
                <a:hlinkClick r:id="rId3"/>
              </a:rPr>
              <a:t>here</a:t>
            </a:r>
            <a:endParaRPr lang="en-US" sz="2000" dirty="0"/>
          </a:p>
          <a:p>
            <a:r>
              <a:rPr lang="en-US" sz="2800" dirty="0"/>
              <a:t>Visual Studio Code - Mac, Linux</a:t>
            </a:r>
          </a:p>
          <a:p>
            <a:pPr lvl="1"/>
            <a:r>
              <a:rPr lang="en-US" sz="2400" dirty="0"/>
              <a:t>You can download VS Code it </a:t>
            </a:r>
            <a:r>
              <a:rPr lang="en-US" sz="2400" dirty="0">
                <a:hlinkClick r:id="rId4"/>
              </a:rPr>
              <a:t>here</a:t>
            </a:r>
            <a:endParaRPr lang="en-US" sz="2400" dirty="0"/>
          </a:p>
          <a:p>
            <a:r>
              <a:rPr lang="en-US" sz="2800" dirty="0"/>
              <a:t>Microsoft software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free for educational use</a:t>
            </a:r>
          </a:p>
          <a:p>
            <a:r>
              <a:rPr lang="en-US" sz="2800" dirty="0"/>
              <a:t>Most Azure Resources are also “free”</a:t>
            </a:r>
          </a:p>
          <a:p>
            <a:pPr lvl="1"/>
            <a:r>
              <a:rPr lang="en-US" sz="2400" dirty="0"/>
              <a:t>Students are provided Azure </a:t>
            </a: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$100.00</a:t>
            </a:r>
          </a:p>
          <a:p>
            <a:pPr lvl="2"/>
            <a:r>
              <a:rPr lang="en-US" sz="1600" dirty="0"/>
              <a:t>We will use several free services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959777"/>
      </p:ext>
    </p:extLst>
  </p:cSld>
  <p:clrMapOvr>
    <a:masterClrMapping/>
  </p:clrMapOvr>
  <p:transition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4DB1-2658-C46A-75E1-8E225BCC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4D8F-A898-545F-D7A2-D5623507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Development Tools &amp;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DDB8D-9FC4-2B32-F4CC-1FE9FBFC7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676400"/>
            <a:ext cx="7772400" cy="533400"/>
          </a:xfrm>
        </p:spPr>
        <p:txBody>
          <a:bodyPr/>
          <a:lstStyle/>
          <a:p>
            <a:r>
              <a:rPr lang="en-US" sz="2800" dirty="0"/>
              <a:t>Visual Studio 2026 Install Selection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974D5-B076-A847-C236-499B7CE3E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40E1F-C830-476A-1F2B-26965FB53D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90362-EE26-6677-1430-A1928987D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B91250-59B6-6213-BCD1-04A6DDD4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56" y="2234339"/>
            <a:ext cx="6073488" cy="417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49715"/>
      </p:ext>
    </p:extLst>
  </p:cSld>
  <p:clrMapOvr>
    <a:masterClrMapping/>
  </p:clrMapOvr>
  <p:transition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88C7-43AC-C58B-8819-B1B2981F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97B0-52D4-846A-1083-E4BFE27C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Development Tools &amp;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B344-71D6-4D22-0FDF-D1AF3DF7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676400"/>
            <a:ext cx="7772400" cy="533400"/>
          </a:xfrm>
        </p:spPr>
        <p:txBody>
          <a:bodyPr/>
          <a:lstStyle/>
          <a:p>
            <a:r>
              <a:rPr lang="en-US" sz="2800" dirty="0"/>
              <a:t>Visual Studio 2026 Install Selection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6593D-F188-CEF0-6D7B-F542E9901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90ECB-109B-2209-7F62-342C86894C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83FFB-8EFB-685E-25BC-26C011519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AB2949-6163-33DE-1B43-121BE3706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36125"/>
            <a:ext cx="7174581" cy="4144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D56DFE-664F-F8E9-1026-742AD005B415}"/>
              </a:ext>
            </a:extLst>
          </p:cNvPr>
          <p:cNvSpPr txBox="1"/>
          <p:nvPr/>
        </p:nvSpPr>
        <p:spPr>
          <a:xfrm>
            <a:off x="4422091" y="3581400"/>
            <a:ext cx="4572000" cy="269304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i="0" dirty="0">
                <a:solidFill>
                  <a:srgbClr val="273540"/>
                </a:solidFill>
                <a:effectLst/>
                <a:latin typeface="Lato Extended"/>
              </a:rPr>
              <a:t>Note:</a:t>
            </a:r>
            <a:r>
              <a:rPr lang="en-US" sz="1400" b="0" i="0" dirty="0">
                <a:solidFill>
                  <a:srgbClr val="273540"/>
                </a:solidFill>
                <a:effectLst/>
                <a:latin typeface="Lato Extended"/>
              </a:rPr>
              <a:t> You may not see the </a:t>
            </a:r>
            <a:r>
              <a:rPr lang="en-US" sz="1400" b="1" i="0" dirty="0">
                <a:solidFill>
                  <a:srgbClr val="273540"/>
                </a:solidFill>
                <a:effectLst/>
                <a:latin typeface="Lato Extended"/>
              </a:rPr>
              <a:t>Data storage and processing</a:t>
            </a:r>
            <a:r>
              <a:rPr lang="en-US" sz="1400" b="0" i="0" dirty="0">
                <a:solidFill>
                  <a:srgbClr val="273540"/>
                </a:solidFill>
                <a:effectLst/>
                <a:latin typeface="Lato Extended"/>
              </a:rPr>
              <a:t> option in Visual Studio 2026. I do see it in my installation, but I have multiple versions and editions of Visual Studio installed, so this may be due to cached or carried-over components, even though Visual Studio 2026 Community is selected.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0" i="0" dirty="0">
                <a:solidFill>
                  <a:srgbClr val="273540"/>
                </a:solidFill>
                <a:effectLst/>
                <a:latin typeface="Lato Extended"/>
              </a:rPr>
              <a:t>This option is not required for the course. You will be fine without it. For SQL-related work, we will use SQL Server Management Studio (SSMS) or Visual Studio Code with the SQL extension, which fully cover what you’ll need.</a:t>
            </a:r>
          </a:p>
        </p:txBody>
      </p:sp>
    </p:spTree>
    <p:extLst>
      <p:ext uri="{BB962C8B-B14F-4D97-AF65-F5344CB8AC3E}">
        <p14:creationId xmlns:p14="http://schemas.microsoft.com/office/powerpoint/2010/main" val="1807260493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Development Tools &amp;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64717"/>
      </p:ext>
    </p:extLst>
  </p:cSld>
  <p:clrMapOvr>
    <a:masterClrMapping/>
  </p:clrMapOvr>
  <p:transition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A6B4-5CB3-55D6-BCE0-77E936C8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763D5-B11A-BD95-7BC2-90724D065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new to Azure and all this …</a:t>
            </a:r>
          </a:p>
          <a:p>
            <a:pPr lvl="1"/>
            <a:r>
              <a:rPr lang="en-US" dirty="0"/>
              <a:t>What do I have to setup how do I do it?</a:t>
            </a:r>
          </a:p>
          <a:p>
            <a:pPr lvl="2"/>
            <a:r>
              <a:rPr lang="en-US" dirty="0"/>
              <a:t>See the welcome letter</a:t>
            </a:r>
          </a:p>
          <a:p>
            <a:pPr lvl="3"/>
            <a:r>
              <a:rPr lang="en-US" dirty="0">
                <a:hlinkClick r:id="rId2"/>
              </a:rPr>
              <a:t>Welcome Letter</a:t>
            </a:r>
            <a:endParaRPr lang="en-US" dirty="0"/>
          </a:p>
          <a:p>
            <a:pPr lvl="2"/>
            <a:r>
              <a:rPr lang="en-US" dirty="0"/>
              <a:t>See the setup video</a:t>
            </a:r>
          </a:p>
          <a:p>
            <a:pPr lvl="3"/>
            <a:r>
              <a:rPr lang="en-US" dirty="0">
                <a:hlinkClick r:id="rId3" tooltip="https://canvas.harvard.edu/courses/166214/pages/lecture-and-section-packs-supplemental-videos-and-software-links#msft-acct-setup"/>
              </a:rPr>
              <a:t>Microsoft Account, Azure &amp; Teams Setup Video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A45E2-38CF-66CF-14AB-46C199DDF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73B95-9E7F-4D8B-5339-C00E2DC39F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9B4A0-5F0D-3387-AB36-B169EF621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774152"/>
      </p:ext>
    </p:extLst>
  </p:cSld>
  <p:clrMapOvr>
    <a:masterClrMapping/>
  </p:clrMapOvr>
  <p:transition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F1BF-6E32-5129-DDAB-7487BC5E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3D18-757F-A6EE-C186-35296BDB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D6106-7499-886C-FFA9-D36B370B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indent="-457200"/>
            <a:r>
              <a:rPr lang="en-US" sz="2800" dirty="0"/>
              <a:t>How long do assignments take to complete?</a:t>
            </a:r>
          </a:p>
          <a:p>
            <a:pPr marL="1314450" lvl="1" indent="-457200"/>
            <a:r>
              <a:rPr lang="en-US" sz="2400" dirty="0">
                <a:ea typeface="+mn-ea"/>
              </a:rPr>
              <a:t>Median student </a:t>
            </a:r>
          </a:p>
          <a:p>
            <a:pPr marL="1714500" lvl="2" indent="-457200"/>
            <a:r>
              <a:rPr lang="en-US" sz="2000" dirty="0">
                <a:ea typeface="+mn-ea"/>
              </a:rPr>
              <a:t>Spends </a:t>
            </a:r>
            <a:r>
              <a:rPr lang="en-US" sz="2000" b="1" dirty="0">
                <a:ea typeface="+mn-ea"/>
              </a:rPr>
              <a:t>between 15 to 20 </a:t>
            </a:r>
            <a:r>
              <a:rPr lang="en-US" sz="2000" dirty="0">
                <a:ea typeface="+mn-ea"/>
              </a:rPr>
              <a:t>hours on each assignment.</a:t>
            </a:r>
          </a:p>
          <a:p>
            <a:pPr marL="914400" indent="-457200"/>
            <a:r>
              <a:rPr lang="en-US" sz="2800" dirty="0"/>
              <a:t>What is submitted?</a:t>
            </a:r>
          </a:p>
          <a:p>
            <a:pPr marL="1314450" lvl="1" indent="-457200"/>
            <a:r>
              <a:rPr lang="en-US" dirty="0">
                <a:ea typeface="+mn-ea"/>
              </a:rPr>
              <a:t>See details provided in each assignment</a:t>
            </a:r>
          </a:p>
          <a:p>
            <a:pPr marL="1714500" lvl="2" indent="-457200"/>
            <a:r>
              <a:rPr lang="en-US" dirty="0">
                <a:ea typeface="+mn-ea"/>
              </a:rPr>
              <a:t>Don't submit the binary</a:t>
            </a:r>
          </a:p>
          <a:p>
            <a:pPr marL="1714500" lvl="2" indent="-457200"/>
            <a:r>
              <a:rPr lang="en-US" dirty="0">
                <a:ea typeface="+mn-ea"/>
              </a:rPr>
              <a:t>Required AI Attribution</a:t>
            </a:r>
          </a:p>
          <a:p>
            <a:pPr marL="2171700" lvl="3" indent="-457200"/>
            <a:r>
              <a:rPr lang="en-US" sz="1800" dirty="0">
                <a:ea typeface="+mn-ea"/>
              </a:rPr>
              <a:t>See assignment and syllabus</a:t>
            </a:r>
          </a:p>
          <a:p>
            <a:pPr marL="1714500" lvl="2" indent="-457200"/>
            <a:r>
              <a:rPr lang="en-US" dirty="0">
                <a:ea typeface="+mn-ea"/>
              </a:rPr>
              <a:t>Ensure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projectnotes.md</a:t>
            </a:r>
            <a:r>
              <a:rPr lang="en-US" dirty="0">
                <a:ea typeface="+mn-ea"/>
              </a:rPr>
              <a:t> is submitted</a:t>
            </a:r>
          </a:p>
          <a:p>
            <a:pPr marL="2171700" lvl="3" indent="-457200"/>
            <a:r>
              <a:rPr lang="en-US" sz="1800" dirty="0">
                <a:ea typeface="+mn-ea"/>
              </a:rPr>
              <a:t>With required information</a:t>
            </a:r>
          </a:p>
          <a:p>
            <a:pPr marL="2628900" lvl="4" indent="-457200"/>
            <a:r>
              <a:rPr lang="en-US" sz="1600" dirty="0">
                <a:ea typeface="+mn-ea"/>
              </a:rPr>
              <a:t>See assignment and syllabus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D63B6-8DB9-760B-F823-018ED2923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AF4B3-AD14-7AE3-C524-2734687A36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283DE-841D-26F6-F8E3-D0622B27F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889800"/>
      </p:ext>
    </p:extLst>
  </p:cSld>
  <p:clrMapOvr>
    <a:masterClrMapping/>
  </p:clrMapOvr>
  <p:transition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F1BF-6E32-5129-DDAB-7487BC5E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3D18-757F-A6EE-C186-35296BDB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D6106-7499-886C-FFA9-D36B370B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indent="-457200"/>
            <a:r>
              <a:rPr lang="en-US" sz="2800" dirty="0"/>
              <a:t>What assistance is available for students</a:t>
            </a:r>
          </a:p>
          <a:p>
            <a:pPr marL="1314450" lvl="1" indent="-457200"/>
            <a:r>
              <a:rPr lang="en-US" sz="2400" dirty="0"/>
              <a:t>Unfamiliar with the technology stack?</a:t>
            </a:r>
          </a:p>
          <a:p>
            <a:pPr marL="1714500" lvl="2" indent="-457200"/>
            <a:r>
              <a:rPr lang="en-US" sz="2000" dirty="0">
                <a:ea typeface="+mn-ea"/>
              </a:rPr>
              <a:t>Several sections include lectures on C# and .NET </a:t>
            </a:r>
          </a:p>
          <a:p>
            <a:pPr marL="1714500" lvl="2" indent="-457200"/>
            <a:r>
              <a:rPr lang="en-US" sz="2000" dirty="0">
                <a:ea typeface="+mn-ea"/>
              </a:rPr>
              <a:t>Weekly instructor office hours </a:t>
            </a:r>
          </a:p>
          <a:p>
            <a:pPr marL="1714500" lvl="2" indent="-457200"/>
            <a:r>
              <a:rPr lang="en-US" dirty="0">
                <a:ea typeface="+mn-ea"/>
              </a:rPr>
              <a:t>Sample is code provided </a:t>
            </a:r>
          </a:p>
          <a:p>
            <a:pPr marL="2171700" lvl="3" indent="-457200"/>
            <a:r>
              <a:rPr lang="en-US" dirty="0">
                <a:ea typeface="+mn-ea"/>
              </a:rPr>
              <a:t>In every lecture pack</a:t>
            </a:r>
          </a:p>
          <a:p>
            <a:pPr marL="2171700" lvl="3" indent="-457200"/>
            <a:r>
              <a:rPr lang="en-US" dirty="0">
                <a:ea typeface="+mn-ea"/>
              </a:rPr>
              <a:t>Instructor Office Hours &amp; Section supplemental content</a:t>
            </a:r>
          </a:p>
          <a:p>
            <a:pPr marL="1714500" lvl="2" indent="-457200"/>
            <a:r>
              <a:rPr lang="en-US" sz="2000" dirty="0">
                <a:ea typeface="+mn-ea"/>
              </a:rPr>
              <a:t>Async Q&amp;A regarding lectures and assignments </a:t>
            </a:r>
          </a:p>
          <a:p>
            <a:pPr marL="2171700" lvl="3" indent="-457200"/>
            <a:r>
              <a:rPr lang="en-US" sz="1800" dirty="0">
                <a:ea typeface="+mn-ea"/>
              </a:rPr>
              <a:t>Take place on Microsoft Teams</a:t>
            </a:r>
            <a:endParaRPr lang="en-US" sz="2400" dirty="0">
              <a:ea typeface="+mn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D63B6-8DB9-760B-F823-018ED2923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AF4B3-AD14-7AE3-C524-2734687A36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283DE-841D-26F6-F8E3-D0622B27F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87756"/>
      </p:ext>
    </p:extLst>
  </p:cSld>
  <p:clrMapOvr>
    <a:masterClrMapping/>
  </p:clrMapOvr>
  <p:transition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3B63-783C-C6AB-9A8D-45E144FA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E8CF-F5E8-0A5C-C57B-25F7177B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  <a:br>
              <a:rPr lang="en-US" dirty="0"/>
            </a:br>
            <a:r>
              <a:rPr lang="en-US" sz="1800" dirty="0"/>
              <a:t>What assistance is available for students unfamiliar with the technology stack 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75A9A-3F4F-DD23-4B96-AD6DE516B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600200"/>
            <a:ext cx="7772400" cy="4724400"/>
          </a:xfrm>
        </p:spPr>
        <p:txBody>
          <a:bodyPr/>
          <a:lstStyle/>
          <a:p>
            <a:pPr marL="914400" indent="-457200"/>
            <a:r>
              <a:rPr lang="en-US" sz="2400" dirty="0">
                <a:ea typeface="+mn-ea"/>
              </a:rPr>
              <a:t>Should I use GitHub for my source code?</a:t>
            </a:r>
          </a:p>
          <a:p>
            <a:pPr marL="1314450" lvl="1" indent="-457200"/>
            <a:r>
              <a:rPr lang="en-US" sz="2000" b="1" dirty="0">
                <a:solidFill>
                  <a:srgbClr val="7030A0"/>
                </a:solidFill>
                <a:ea typeface="+mn-ea"/>
              </a:rPr>
              <a:t>YES, and keep it private</a:t>
            </a:r>
          </a:p>
          <a:p>
            <a:pPr marL="1714500" lvl="2" indent="-457200"/>
            <a:r>
              <a:rPr lang="en-US" sz="1600" b="1" dirty="0">
                <a:solidFill>
                  <a:srgbClr val="7030A0"/>
                </a:solidFill>
                <a:ea typeface="+mn-ea"/>
              </a:rPr>
              <a:t>You can share it with your Instructor / TA if/when needed for assistance</a:t>
            </a:r>
          </a:p>
          <a:p>
            <a:pPr marL="1714500" lvl="2" indent="-457200"/>
            <a:r>
              <a:rPr lang="en-US" sz="1600" b="1" dirty="0">
                <a:solidFill>
                  <a:srgbClr val="FF0000"/>
                </a:solidFill>
                <a:ea typeface="+mn-ea"/>
              </a:rPr>
              <a:t>Assignment submission only happens through Canvas not GitHub</a:t>
            </a:r>
          </a:p>
          <a:p>
            <a:pPr marL="914400" indent="-457200"/>
            <a:r>
              <a:rPr lang="en-US" sz="2400" dirty="0">
                <a:ea typeface="+mn-ea"/>
              </a:rPr>
              <a:t>Microsoft Teams Assignment Channel</a:t>
            </a:r>
          </a:p>
          <a:p>
            <a:pPr marL="1314450" lvl="1" indent="-457200"/>
            <a:r>
              <a:rPr lang="en-US" sz="2000" dirty="0">
                <a:ea typeface="+mn-ea"/>
              </a:rPr>
              <a:t>Post your question in the assignment channel</a:t>
            </a:r>
          </a:p>
          <a:p>
            <a:pPr marL="1314450" lvl="1" indent="-457200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Don't include assignment source code</a:t>
            </a:r>
          </a:p>
          <a:p>
            <a:pPr marL="1314450" lvl="1" indent="-457200"/>
            <a:r>
              <a:rPr lang="en-US" sz="2000" dirty="0"/>
              <a:t>Do include context</a:t>
            </a:r>
          </a:p>
          <a:p>
            <a:pPr marL="1714500" lvl="2" indent="-457200"/>
            <a:r>
              <a:rPr lang="en-US" sz="1800" dirty="0"/>
              <a:t>Challenge you are facing</a:t>
            </a:r>
          </a:p>
          <a:p>
            <a:pPr marL="1714500" lvl="2" indent="-457200"/>
            <a:r>
              <a:rPr lang="en-US" sz="1800" dirty="0"/>
              <a:t>Error messages</a:t>
            </a:r>
          </a:p>
          <a:p>
            <a:pPr marL="1714500" lvl="2" indent="-457200"/>
            <a:r>
              <a:rPr lang="en-US" sz="1800" dirty="0"/>
              <a:t>What you have tried so far</a:t>
            </a:r>
          </a:p>
          <a:p>
            <a:pPr marL="1314450" lvl="1" indent="-457200"/>
            <a:r>
              <a:rPr lang="en-US" sz="2000" dirty="0"/>
              <a:t>Other students and TAs can help you</a:t>
            </a:r>
            <a:endParaRPr lang="en-US" sz="2000" dirty="0">
              <a:ea typeface="+mn-ea"/>
            </a:endParaRPr>
          </a:p>
          <a:p>
            <a:pPr marL="914400" indent="-45720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Don't use email</a:t>
            </a:r>
            <a:endParaRPr lang="en-US" sz="1400" dirty="0">
              <a:ea typeface="+mn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36388-2965-AACC-F47D-26646068B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3786B-1F18-D08B-138E-A7F4837F6F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7D7C7-5DE4-F0AB-EAFA-7E2D70BF2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63404"/>
      </p:ext>
    </p:extLst>
  </p:cSld>
  <p:clrMapOvr>
    <a:masterClrMapping/>
  </p:clrMapOvr>
  <p:transition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AE426-0A5A-2625-2771-7D3A70E2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BDD-83A7-A40D-A385-569B9960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Class Overview – FAQ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What assistance is available for students unfamiliar with the technology stack 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5A60-72E3-068F-3DBC-C5D0A7CB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indent="-457200"/>
            <a:r>
              <a:rPr lang="en-US" sz="2800" b="1" dirty="0">
                <a:ea typeface="+mn-ea"/>
              </a:rPr>
              <a:t>Limited availability </a:t>
            </a:r>
            <a:r>
              <a:rPr lang="en-US" sz="2800" dirty="0">
                <a:ea typeface="+mn-ea"/>
              </a:rPr>
              <a:t>for TA 1:1 sessions</a:t>
            </a:r>
          </a:p>
          <a:p>
            <a:pPr marL="1314450" lvl="1" indent="-457200"/>
            <a:r>
              <a:rPr lang="en-US" sz="2400" dirty="0">
                <a:ea typeface="+mn-ea"/>
              </a:rPr>
              <a:t>Request to your grading TA or Jonathan Franck</a:t>
            </a:r>
          </a:p>
          <a:p>
            <a:pPr marL="1714500" lvl="2" indent="-457200"/>
            <a:r>
              <a:rPr lang="en-US" sz="2000" dirty="0">
                <a:ea typeface="+mn-ea"/>
              </a:rPr>
              <a:t>To schedule a time that works for you both</a:t>
            </a:r>
          </a:p>
          <a:p>
            <a:pPr marL="1714500" lvl="2" indent="-457200"/>
            <a:r>
              <a:rPr lang="en-US" sz="2000" b="1" dirty="0">
                <a:ea typeface="+mn-ea"/>
              </a:rPr>
              <a:t>TAs Need 2-3 days notice</a:t>
            </a:r>
          </a:p>
          <a:p>
            <a:pPr marL="1714500" lvl="2" indent="-457200"/>
            <a:r>
              <a:rPr lang="en-US" sz="2000" b="1" dirty="0">
                <a:ea typeface="+mn-ea"/>
              </a:rPr>
              <a:t>½ Hour sessions</a:t>
            </a:r>
          </a:p>
          <a:p>
            <a:pPr marL="1314450" lvl="1" indent="-457200"/>
            <a:r>
              <a:rPr lang="en-US" sz="2400" b="1" dirty="0">
                <a:ea typeface="+mn-ea"/>
              </a:rPr>
              <a:t>First come first serve</a:t>
            </a:r>
          </a:p>
          <a:p>
            <a:pPr marL="1714500" lvl="2" indent="-457200"/>
            <a:r>
              <a:rPr lang="en-US" sz="2000" b="1" dirty="0">
                <a:ea typeface="+mn-ea"/>
              </a:rPr>
              <a:t>Always post your question </a:t>
            </a:r>
          </a:p>
          <a:p>
            <a:pPr marL="2171700" lvl="3" indent="-457200"/>
            <a:r>
              <a:rPr lang="en-US" sz="1600" b="1" dirty="0">
                <a:ea typeface="+mn-ea"/>
              </a:rPr>
              <a:t>In Teams Assignment channel first</a:t>
            </a:r>
          </a:p>
          <a:p>
            <a:pPr marL="1314450" lvl="1" indent="-457200"/>
            <a:r>
              <a:rPr lang="en-US" sz="2400" b="1" dirty="0">
                <a:ea typeface="+mn-ea"/>
              </a:rPr>
              <a:t>TA's schedule may be full</a:t>
            </a:r>
          </a:p>
          <a:p>
            <a:pPr marL="1714500" lvl="2" indent="-457200"/>
            <a:r>
              <a:rPr lang="en-US" sz="2000" dirty="0">
                <a:ea typeface="+mn-ea"/>
              </a:rPr>
              <a:t>Alternatives </a:t>
            </a:r>
          </a:p>
          <a:p>
            <a:pPr marL="2171700" lvl="3" indent="-457200"/>
            <a:r>
              <a:rPr lang="en-US" sz="1600" dirty="0">
                <a:ea typeface="+mn-ea"/>
              </a:rPr>
              <a:t>Microsoft Teams async Q&amp;A</a:t>
            </a:r>
          </a:p>
          <a:p>
            <a:pPr marL="2171700" lvl="3" indent="-457200"/>
            <a:r>
              <a:rPr lang="en-US" sz="1600" dirty="0">
                <a:ea typeface="+mn-ea"/>
              </a:rPr>
              <a:t>Section</a:t>
            </a:r>
          </a:p>
          <a:p>
            <a:pPr marL="2171700" lvl="3" indent="-457200"/>
            <a:r>
              <a:rPr lang="en-US" sz="1600" dirty="0">
                <a:ea typeface="+mn-ea"/>
              </a:rPr>
              <a:t>Instructor office hours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8F563-F70D-E8BD-A75F-CC0E5B270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5E911-1D2D-4C5F-6359-83477D530F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C0E0D-2310-F642-4076-BED663ECB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0624"/>
      </p:ext>
    </p:extLst>
  </p:cSld>
  <p:clrMapOvr>
    <a:masterClrMapping/>
  </p:clrMapOvr>
  <p:transition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EFAC-CEBD-333A-7A7C-A7D7ED86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01FC-2404-9F5B-41B8-D2A26870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326B-995D-C69D-418B-01B7D4899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indent="-457200"/>
            <a:r>
              <a:rPr lang="en-US" sz="2800" dirty="0"/>
              <a:t>How long before my assignment is graded</a:t>
            </a:r>
          </a:p>
          <a:p>
            <a:pPr marL="1314450" lvl="1" indent="-457200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Typically, 2 weeks from date it was turned in</a:t>
            </a:r>
          </a:p>
          <a:p>
            <a:pPr marL="914400" indent="-457200"/>
            <a:r>
              <a:rPr lang="en-US" sz="2800" dirty="0"/>
              <a:t>Make sure your service is working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Azure</a:t>
            </a:r>
          </a:p>
          <a:p>
            <a:pPr marL="1314450" lvl="1" indent="-457200"/>
            <a:r>
              <a:rPr lang="en-US" sz="2400" dirty="0"/>
              <a:t>TAs will try to restart it, </a:t>
            </a:r>
            <a:r>
              <a:rPr lang="en-US" sz="2400" b="1" dirty="0"/>
              <a:t>once</a:t>
            </a:r>
          </a:p>
          <a:p>
            <a:pPr marL="1314450" lvl="1" indent="-457200"/>
            <a:r>
              <a:rPr lang="en-US" sz="2400" dirty="0"/>
              <a:t>If they can't get it working, they will reach out</a:t>
            </a:r>
          </a:p>
          <a:p>
            <a:pPr marL="1714500" lvl="2" indent="-457200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Respond in 24 hours or less</a:t>
            </a:r>
          </a:p>
          <a:p>
            <a:pPr marL="2171700" lvl="3" indent="-457200"/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they don't hear from you, they will grade as is, working or not</a:t>
            </a:r>
          </a:p>
          <a:p>
            <a:pPr marL="914400" indent="-457200"/>
            <a:r>
              <a:rPr lang="en-US" sz="2800" dirty="0"/>
              <a:t>How do I get my assignment's grade?</a:t>
            </a:r>
          </a:p>
          <a:p>
            <a:pPr marL="1314450" lvl="1" indent="-457200"/>
            <a:r>
              <a:rPr lang="en-US" sz="2400" dirty="0"/>
              <a:t>Check canvas grading, </a:t>
            </a:r>
          </a:p>
          <a:p>
            <a:pPr marL="1714500" lvl="2" indent="-457200"/>
            <a:r>
              <a:rPr lang="en-US" sz="2000" dirty="0"/>
              <a:t>Reach out to grading TA via Microsoft Teams</a:t>
            </a:r>
          </a:p>
          <a:p>
            <a:pPr marL="2171700" lvl="3" indent="-457200"/>
            <a:r>
              <a:rPr lang="en-US" sz="1600" dirty="0"/>
              <a:t>To check on progress </a:t>
            </a:r>
            <a:r>
              <a:rPr lang="en-US" sz="1600" b="1" dirty="0"/>
              <a:t>if not gradated within 2 weeks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A17C3-4120-2925-ED2B-8C97F18B3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BA95-B913-E24F-DFCA-3DB047FA06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D909C-7A39-161C-9929-0B5DB6E24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3894"/>
      </p:ext>
    </p:extLst>
  </p:cSld>
  <p:clrMapOvr>
    <a:masterClrMapping/>
  </p:clrMapOvr>
  <p:transition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BF384-E3A1-F859-8B17-8CFAACF9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9F5C-2902-0DBA-6C67-A0951D1D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152400"/>
            <a:ext cx="7793037" cy="11430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Class Overview – FAQ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37A65-709E-EDE0-7F77-948C6DB9C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1341" y="6473338"/>
            <a:ext cx="412750" cy="2333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E134AC31-977B-4816-99ED-E47F68C60C06}" type="slidenum">
              <a:rPr lang="en-US" smtClean="0"/>
              <a:pPr>
                <a:spcAft>
                  <a:spcPts val="600"/>
                </a:spcAft>
                <a:defRPr/>
              </a:pPr>
              <a:t>40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3176C-6A1C-8D73-02D4-8C6E401D35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204359" y="6477000"/>
            <a:ext cx="732266" cy="2286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01/29/2026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D9676-AD53-58A2-45A8-158AB9D78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0600" y="6472238"/>
            <a:ext cx="7543800" cy="233362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8D82A27-6FB4-F4F9-DE99-169BF72042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530618"/>
              </p:ext>
            </p:extLst>
          </p:nvPr>
        </p:nvGraphicFramePr>
        <p:xfrm>
          <a:off x="125360" y="1732413"/>
          <a:ext cx="8917892" cy="4592187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011146">
                  <a:extLst>
                    <a:ext uri="{9D8B030D-6E8A-4147-A177-3AD203B41FA5}">
                      <a16:colId xmlns:a16="http://schemas.microsoft.com/office/drawing/2014/main" val="2797141605"/>
                    </a:ext>
                  </a:extLst>
                </a:gridCol>
                <a:gridCol w="2630145">
                  <a:extLst>
                    <a:ext uri="{9D8B030D-6E8A-4147-A177-3AD203B41FA5}">
                      <a16:colId xmlns:a16="http://schemas.microsoft.com/office/drawing/2014/main" val="3140430419"/>
                    </a:ext>
                  </a:extLst>
                </a:gridCol>
                <a:gridCol w="3276601">
                  <a:extLst>
                    <a:ext uri="{9D8B030D-6E8A-4147-A177-3AD203B41FA5}">
                      <a16:colId xmlns:a16="http://schemas.microsoft.com/office/drawing/2014/main" val="2492322392"/>
                    </a:ext>
                  </a:extLst>
                </a:gridCol>
              </a:tblGrid>
              <a:tr h="329325">
                <a:tc gridSpan="2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FF00"/>
                          </a:solidFill>
                        </a:rPr>
                        <a:t>OS/Software                   </a:t>
                      </a:r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Can it be used ?</a:t>
                      </a:r>
                    </a:p>
                  </a:txBody>
                  <a:tcPr marL="99092" marR="99092" marT="54501" marB="54501"/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rgbClr val="FFFF00"/>
                        </a:solidFill>
                      </a:endParaRP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Support Available ?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3870205590"/>
                  </a:ext>
                </a:extLst>
              </a:tr>
              <a:tr h="383119">
                <a:tc>
                  <a:txBody>
                    <a:bodyPr/>
                    <a:lstStyle/>
                    <a:p>
                      <a:r>
                        <a:rPr lang="en-US" sz="1800" dirty="0"/>
                        <a:t>macOS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Yes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523558603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r>
                        <a:rPr lang="en-US" sz="1800" dirty="0"/>
                        <a:t>Linux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No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1051570048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r>
                        <a:rPr lang="en-US" sz="1800" dirty="0"/>
                        <a:t>Windows 11, 10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Yes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1405330565"/>
                  </a:ext>
                </a:extLst>
              </a:tr>
              <a:tr h="468301">
                <a:tc>
                  <a:txBody>
                    <a:bodyPr/>
                    <a:lstStyle/>
                    <a:p>
                      <a:r>
                        <a:rPr lang="en-US" sz="1800" dirty="0"/>
                        <a:t>Windows 7, 8, 8.1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No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1809953776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r>
                        <a:rPr lang="en-US" sz="1800" dirty="0"/>
                        <a:t>Visual Studio for Mac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No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3430471120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r>
                        <a:rPr lang="en-US" sz="1800" dirty="0"/>
                        <a:t>Visual Studio Code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Yes, </a:t>
                      </a:r>
                      <a:r>
                        <a:rPr kumimoji="0" 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Required for Bicep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Yes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3746036372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r>
                        <a:rPr lang="en-US" sz="1800" dirty="0"/>
                        <a:t>Visual Studio 2022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sz="1100" dirty="0"/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No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2337630026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r>
                        <a:rPr lang="en-US" sz="1800" dirty="0"/>
                        <a:t>Visual Studio 2026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sz="1100" dirty="0"/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No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1209360524"/>
                  </a:ext>
                </a:extLst>
              </a:tr>
              <a:tr h="4796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JetBrains Rider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marL="109001" marR="109001" marT="54501" marB="5450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  No</a:t>
                      </a:r>
                    </a:p>
                  </a:txBody>
                  <a:tcPr marL="109001" marR="109001" marT="54501" marB="54501"/>
                </a:tc>
                <a:extLst>
                  <a:ext uri="{0D108BD9-81ED-4DB2-BD59-A6C34878D82A}">
                    <a16:rowId xmlns:a16="http://schemas.microsoft.com/office/drawing/2014/main" val="145572798"/>
                  </a:ext>
                </a:extLst>
              </a:tr>
            </a:tbl>
          </a:graphicData>
        </a:graphic>
      </p:graphicFrame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DA7459D8-98DE-BE7F-DFF4-E29D4DFBD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7141" y="2152694"/>
            <a:ext cx="381000" cy="381000"/>
          </a:xfrm>
          <a:prstGeom prst="rect">
            <a:avLst/>
          </a:prstGeom>
        </p:spPr>
      </p:pic>
      <p:pic>
        <p:nvPicPr>
          <p:cNvPr id="19" name="Graphic 18" descr="Badge Tick1 with solid fill">
            <a:extLst>
              <a:ext uri="{FF2B5EF4-FFF2-40B4-BE49-F238E27FC236}">
                <a16:creationId xmlns:a16="http://schemas.microsoft.com/office/drawing/2014/main" id="{F19903C9-8F18-32F9-BE0D-B57F223F8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8526" y="2587848"/>
            <a:ext cx="381000" cy="381000"/>
          </a:xfrm>
          <a:prstGeom prst="rect">
            <a:avLst/>
          </a:prstGeom>
        </p:spPr>
      </p:pic>
      <p:pic>
        <p:nvPicPr>
          <p:cNvPr id="20" name="Graphic 19" descr="No sign with solid fill">
            <a:extLst>
              <a:ext uri="{FF2B5EF4-FFF2-40B4-BE49-F238E27FC236}">
                <a16:creationId xmlns:a16="http://schemas.microsoft.com/office/drawing/2014/main" id="{5237C092-AFC9-D5EE-D958-B226BE4608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5478" y="3513275"/>
            <a:ext cx="384048" cy="384048"/>
          </a:xfrm>
          <a:prstGeom prst="rect">
            <a:avLst/>
          </a:prstGeom>
        </p:spPr>
      </p:pic>
      <p:pic>
        <p:nvPicPr>
          <p:cNvPr id="22" name="Graphic 21" descr="Badge Tick1 with solid fill">
            <a:extLst>
              <a:ext uri="{FF2B5EF4-FFF2-40B4-BE49-F238E27FC236}">
                <a16:creationId xmlns:a16="http://schemas.microsoft.com/office/drawing/2014/main" id="{2D3F8911-EF0A-B12A-FA79-D53A6362CC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7002" y="4434275"/>
            <a:ext cx="381000" cy="381000"/>
          </a:xfrm>
          <a:prstGeom prst="rect">
            <a:avLst/>
          </a:prstGeom>
        </p:spPr>
      </p:pic>
      <p:pic>
        <p:nvPicPr>
          <p:cNvPr id="23" name="Graphic 22" descr="Badge Tick1 with solid fill">
            <a:extLst>
              <a:ext uri="{FF2B5EF4-FFF2-40B4-BE49-F238E27FC236}">
                <a16:creationId xmlns:a16="http://schemas.microsoft.com/office/drawing/2014/main" id="{85631818-91B2-D7AC-F8FF-EA4833C419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1316" y="5423351"/>
            <a:ext cx="381000" cy="381000"/>
          </a:xfrm>
          <a:prstGeom prst="rect">
            <a:avLst/>
          </a:prstGeom>
        </p:spPr>
      </p:pic>
      <p:pic>
        <p:nvPicPr>
          <p:cNvPr id="24" name="Graphic 23" descr="Badge Tick1 with solid fill">
            <a:extLst>
              <a:ext uri="{FF2B5EF4-FFF2-40B4-BE49-F238E27FC236}">
                <a16:creationId xmlns:a16="http://schemas.microsoft.com/office/drawing/2014/main" id="{EA67F244-95AD-CD46-CF2D-48B2AD2863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8268" y="5918651"/>
            <a:ext cx="381000" cy="381000"/>
          </a:xfrm>
          <a:prstGeom prst="rect">
            <a:avLst/>
          </a:prstGeom>
        </p:spPr>
      </p:pic>
      <p:pic>
        <p:nvPicPr>
          <p:cNvPr id="25" name="Graphic 24" descr="Badge Tick1 with solid fill">
            <a:extLst>
              <a:ext uri="{FF2B5EF4-FFF2-40B4-BE49-F238E27FC236}">
                <a16:creationId xmlns:a16="http://schemas.microsoft.com/office/drawing/2014/main" id="{B189FBF2-E980-BB10-0E13-2FD6A60269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851" y="2113413"/>
            <a:ext cx="381000" cy="381000"/>
          </a:xfrm>
          <a:prstGeom prst="rect">
            <a:avLst/>
          </a:prstGeom>
        </p:spPr>
      </p:pic>
      <p:pic>
        <p:nvPicPr>
          <p:cNvPr id="26" name="Graphic 25" descr="No sign with solid fill">
            <a:extLst>
              <a:ext uri="{FF2B5EF4-FFF2-40B4-BE49-F238E27FC236}">
                <a16:creationId xmlns:a16="http://schemas.microsoft.com/office/drawing/2014/main" id="{C342AC20-76E2-3B86-793F-86D1F1853E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851" y="2584800"/>
            <a:ext cx="384048" cy="384048"/>
          </a:xfrm>
          <a:prstGeom prst="rect">
            <a:avLst/>
          </a:prstGeom>
        </p:spPr>
      </p:pic>
      <p:pic>
        <p:nvPicPr>
          <p:cNvPr id="27" name="Graphic 26" descr="No sign with solid fill">
            <a:extLst>
              <a:ext uri="{FF2B5EF4-FFF2-40B4-BE49-F238E27FC236}">
                <a16:creationId xmlns:a16="http://schemas.microsoft.com/office/drawing/2014/main" id="{099E7CDA-5373-6381-E55D-A9BBFAA88B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9644" y="3978421"/>
            <a:ext cx="384048" cy="384048"/>
          </a:xfrm>
          <a:prstGeom prst="rect">
            <a:avLst/>
          </a:prstGeom>
        </p:spPr>
      </p:pic>
      <p:pic>
        <p:nvPicPr>
          <p:cNvPr id="28" name="Graphic 27" descr="Badge Tick1 with solid fill">
            <a:extLst>
              <a:ext uri="{FF2B5EF4-FFF2-40B4-BE49-F238E27FC236}">
                <a16:creationId xmlns:a16="http://schemas.microsoft.com/office/drawing/2014/main" id="{E1DCF2A1-18AF-399F-34D9-0126DEE3BB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9644" y="4452581"/>
            <a:ext cx="381000" cy="381000"/>
          </a:xfrm>
          <a:prstGeom prst="rect">
            <a:avLst/>
          </a:prstGeom>
        </p:spPr>
      </p:pic>
      <p:pic>
        <p:nvPicPr>
          <p:cNvPr id="29" name="Graphic 28" descr="Badge Tick1 with solid fill">
            <a:extLst>
              <a:ext uri="{FF2B5EF4-FFF2-40B4-BE49-F238E27FC236}">
                <a16:creationId xmlns:a16="http://schemas.microsoft.com/office/drawing/2014/main" id="{733B4ACD-CC0D-72AA-292D-776F6793C7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5899" y="5410188"/>
            <a:ext cx="381000" cy="381000"/>
          </a:xfrm>
          <a:prstGeom prst="rect">
            <a:avLst/>
          </a:prstGeom>
        </p:spPr>
      </p:pic>
      <p:pic>
        <p:nvPicPr>
          <p:cNvPr id="31" name="Graphic 30" descr="Badge Tick1 with solid fill">
            <a:extLst>
              <a:ext uri="{FF2B5EF4-FFF2-40B4-BE49-F238E27FC236}">
                <a16:creationId xmlns:a16="http://schemas.microsoft.com/office/drawing/2014/main" id="{B6ADB906-4814-2D14-C86A-3239D8182D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6375" y="3025335"/>
            <a:ext cx="381000" cy="381000"/>
          </a:xfrm>
          <a:prstGeom prst="rect">
            <a:avLst/>
          </a:prstGeom>
        </p:spPr>
      </p:pic>
      <p:pic>
        <p:nvPicPr>
          <p:cNvPr id="33" name="Graphic 32" descr="Badge Tick1 with solid fill">
            <a:extLst>
              <a:ext uri="{FF2B5EF4-FFF2-40B4-BE49-F238E27FC236}">
                <a16:creationId xmlns:a16="http://schemas.microsoft.com/office/drawing/2014/main" id="{4D4BAF5F-C4FC-33C6-64F9-61D9A2E377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7747" y="3027813"/>
            <a:ext cx="381000" cy="381000"/>
          </a:xfrm>
          <a:prstGeom prst="rect">
            <a:avLst/>
          </a:prstGeom>
        </p:spPr>
      </p:pic>
      <p:pic>
        <p:nvPicPr>
          <p:cNvPr id="34" name="Graphic 33" descr="No sign with solid fill">
            <a:extLst>
              <a:ext uri="{FF2B5EF4-FFF2-40B4-BE49-F238E27FC236}">
                <a16:creationId xmlns:a16="http://schemas.microsoft.com/office/drawing/2014/main" id="{2D23735B-192E-C5C5-7FA5-CC24DE8FFD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9644" y="3525141"/>
            <a:ext cx="384048" cy="384048"/>
          </a:xfrm>
          <a:prstGeom prst="rect">
            <a:avLst/>
          </a:prstGeom>
        </p:spPr>
      </p:pic>
      <p:pic>
        <p:nvPicPr>
          <p:cNvPr id="7" name="Graphic 6" descr="No sign with solid fill">
            <a:extLst>
              <a:ext uri="{FF2B5EF4-FFF2-40B4-BE49-F238E27FC236}">
                <a16:creationId xmlns:a16="http://schemas.microsoft.com/office/drawing/2014/main" id="{66D85C48-4BF1-344F-C3F4-A72CCF4F7D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5899" y="5898114"/>
            <a:ext cx="384048" cy="384048"/>
          </a:xfrm>
          <a:prstGeom prst="rect">
            <a:avLst/>
          </a:prstGeom>
        </p:spPr>
      </p:pic>
      <p:pic>
        <p:nvPicPr>
          <p:cNvPr id="8" name="Graphic 7" descr="No sign with solid fill">
            <a:extLst>
              <a:ext uri="{FF2B5EF4-FFF2-40B4-BE49-F238E27FC236}">
                <a16:creationId xmlns:a16="http://schemas.microsoft.com/office/drawing/2014/main" id="{9C0B1206-44F0-218D-1839-140330C968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5478" y="3956792"/>
            <a:ext cx="384048" cy="384048"/>
          </a:xfrm>
          <a:prstGeom prst="rect">
            <a:avLst/>
          </a:prstGeom>
        </p:spPr>
      </p:pic>
      <p:pic>
        <p:nvPicPr>
          <p:cNvPr id="3" name="Graphic 2" descr="No sign with solid fill">
            <a:extLst>
              <a:ext uri="{FF2B5EF4-FFF2-40B4-BE49-F238E27FC236}">
                <a16:creationId xmlns:a16="http://schemas.microsoft.com/office/drawing/2014/main" id="{1A112889-3285-CD3E-90B8-251C1CBE53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5224" y="4952052"/>
            <a:ext cx="384048" cy="384048"/>
          </a:xfrm>
          <a:prstGeom prst="rect">
            <a:avLst/>
          </a:prstGeom>
        </p:spPr>
      </p:pic>
      <p:pic>
        <p:nvPicPr>
          <p:cNvPr id="9" name="Graphic 8" descr="No sign with solid fill">
            <a:extLst>
              <a:ext uri="{FF2B5EF4-FFF2-40B4-BE49-F238E27FC236}">
                <a16:creationId xmlns:a16="http://schemas.microsoft.com/office/drawing/2014/main" id="{D7EBE9C4-5106-40B1-9186-4527C3B7D9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8268" y="4932363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08485"/>
      </p:ext>
    </p:extLst>
  </p:cSld>
  <p:clrMapOvr>
    <a:masterClrMapping/>
  </p:clrMapOvr>
  <p:transition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B3A3-99E6-212E-BB46-001253B3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609C-2C43-4757-685F-B50695ACA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5EB34-A4D8-F385-05B6-E86B891EB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 Tip</a:t>
            </a:r>
          </a:p>
          <a:p>
            <a:pPr lvl="1"/>
            <a:r>
              <a:rPr lang="en-US" dirty="0"/>
              <a:t>To run Windows on a Mac</a:t>
            </a:r>
          </a:p>
          <a:p>
            <a:pPr lvl="2"/>
            <a:r>
              <a:rPr lang="en-US" dirty="0"/>
              <a:t>Use: Parallels or VMWare Fusion or Bootcamp</a:t>
            </a:r>
          </a:p>
          <a:p>
            <a:pPr lvl="3"/>
            <a:r>
              <a:rPr lang="en-US" dirty="0"/>
              <a:t>We recommend Parallels if using a Mac</a:t>
            </a:r>
          </a:p>
          <a:p>
            <a:pPr lvl="4"/>
            <a:r>
              <a:rPr lang="en-US" dirty="0"/>
              <a:t>Academic version available for $39.95</a:t>
            </a:r>
          </a:p>
          <a:p>
            <a:pPr lvl="5"/>
            <a:r>
              <a:rPr lang="en-US" dirty="0">
                <a:hlinkClick r:id="rId2"/>
              </a:rPr>
              <a:t>http://www.onthehub.com/parallels/</a:t>
            </a:r>
            <a:br>
              <a:rPr lang="en-US" dirty="0"/>
            </a:br>
            <a:endParaRPr lang="en-US" dirty="0"/>
          </a:p>
          <a:p>
            <a:r>
              <a:rPr lang="en-US" dirty="0"/>
              <a:t>JetBrains Rider License</a:t>
            </a:r>
          </a:p>
          <a:p>
            <a:pPr lvl="1"/>
            <a:r>
              <a:rPr lang="en-US" dirty="0"/>
              <a:t>They offer a free license</a:t>
            </a:r>
          </a:p>
          <a:p>
            <a:pPr lvl="2"/>
            <a:r>
              <a:rPr lang="en-US" dirty="0"/>
              <a:t>See </a:t>
            </a:r>
            <a:r>
              <a:rPr lang="en-US" dirty="0">
                <a:hlinkClick r:id="rId3"/>
              </a:rPr>
              <a:t>Free Educational Licenses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567C7-B24C-FD3B-B0F1-099A333B5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2D1CD-31B9-5192-FCF3-BF94941314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358CF-C0B4-FA36-EF69-5CD04AB7F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638245"/>
      </p:ext>
    </p:extLst>
  </p:cSld>
  <p:clrMapOvr>
    <a:masterClrMapping/>
  </p:clrMapOvr>
  <p:transition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I need an Azure account</a:t>
            </a:r>
          </a:p>
          <a:p>
            <a:pPr lvl="1"/>
            <a:r>
              <a:rPr lang="en-US" b="1" dirty="0">
                <a:solidFill>
                  <a:srgbClr val="00A5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Yes – </a:t>
            </a:r>
            <a:r>
              <a:rPr lang="en-US" dirty="0"/>
              <a:t>See welcome letter for instructions</a:t>
            </a:r>
          </a:p>
          <a:p>
            <a:pPr lvl="1"/>
            <a:r>
              <a:rPr lang="en-US" dirty="0"/>
              <a:t>I already have an Azure account can I use it?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</a:p>
          <a:p>
            <a:pPr lvl="3"/>
            <a:r>
              <a:rPr lang="en-US" dirty="0"/>
              <a:t>We need to have full admin rights to your account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dirty="0"/>
              <a:t>Can I add to my existing Azure account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new Microsoft account</a:t>
            </a:r>
          </a:p>
          <a:p>
            <a:pPr lvl="3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Don’t use any special characters in email address</a:t>
            </a:r>
          </a:p>
          <a:p>
            <a:pPr lvl="4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[A-Za-z0-9] Keep email address small and simple</a:t>
            </a:r>
          </a:p>
          <a:p>
            <a:pPr lvl="3"/>
            <a:r>
              <a:rPr lang="en-US" dirty="0"/>
              <a:t>See: </a:t>
            </a:r>
            <a:r>
              <a:rPr lang="en-US" dirty="0">
                <a:hlinkClick r:id="rId2"/>
              </a:rPr>
              <a:t>https://account.microsoft.com/account</a:t>
            </a:r>
            <a:endParaRPr lang="en-US" dirty="0"/>
          </a:p>
          <a:p>
            <a:pPr lvl="5"/>
            <a:r>
              <a:rPr lang="en-US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Private / Incognito tab to do 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03624"/>
      </p:ext>
    </p:extLst>
  </p:cSld>
  <p:clrMapOvr>
    <a:masterClrMapping/>
  </p:clrMapOvr>
  <p:transition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I be charged for my Azure account?</a:t>
            </a:r>
          </a:p>
          <a:p>
            <a:pPr lvl="1"/>
            <a:r>
              <a:rPr lang="en-US" dirty="0"/>
              <a:t>When using academic subscription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/>
            <a:r>
              <a:rPr lang="en-US" dirty="0"/>
              <a:t>What happens when I exceed my limit</a:t>
            </a:r>
          </a:p>
          <a:p>
            <a:pPr lvl="2"/>
            <a:r>
              <a:rPr lang="en-US" dirty="0"/>
              <a:t>You will be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unable</a:t>
            </a:r>
            <a:r>
              <a:rPr lang="en-US" dirty="0"/>
              <a:t> to access paid resources</a:t>
            </a:r>
          </a:p>
          <a:p>
            <a:pPr lvl="2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won't be able to grade your assignment</a:t>
            </a:r>
          </a:p>
          <a:p>
            <a:pPr lvl="2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free resources as instructed</a:t>
            </a:r>
          </a:p>
          <a:p>
            <a:pPr lvl="2"/>
            <a:r>
              <a:rPr lang="en-US" dirty="0"/>
              <a:t>If I want to pay how much will it cost me?</a:t>
            </a:r>
          </a:p>
          <a:p>
            <a:pPr lvl="3"/>
            <a:r>
              <a:rPr lang="en-US" dirty="0"/>
              <a:t>Depends on usage</a:t>
            </a:r>
          </a:p>
          <a:p>
            <a:pPr lvl="3"/>
            <a:r>
              <a:rPr lang="en-US" dirty="0"/>
              <a:t>Billed monthly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299808"/>
      </p:ext>
    </p:extLst>
  </p:cSld>
  <p:clrMapOvr>
    <a:masterClrMapping/>
  </p:clrMapOvr>
  <p:transition>
    <p:push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 –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 use the Azure simulator?</a:t>
            </a:r>
          </a:p>
          <a:p>
            <a:pPr lvl="1"/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Sometimes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For available services during your development</a:t>
            </a:r>
          </a:p>
          <a:p>
            <a:pPr lvl="3"/>
            <a:r>
              <a:rPr lang="en-US" dirty="0"/>
              <a:t>Not all Azure services have simulations</a:t>
            </a:r>
          </a:p>
          <a:p>
            <a:pPr lv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deploy finished solution to Azure cloud</a:t>
            </a:r>
          </a:p>
          <a:p>
            <a:pPr lvl="2"/>
            <a:r>
              <a:rPr lang="en-US" dirty="0"/>
              <a:t>Grading is against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Azure cloud deployment</a:t>
            </a:r>
          </a:p>
          <a:p>
            <a:pPr lvl="1"/>
            <a:r>
              <a:rPr lang="en-US" b="1" dirty="0">
                <a:solidFill>
                  <a:srgbClr val="2FBB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</a:t>
            </a:r>
          </a:p>
          <a:p>
            <a:pPr lvl="2"/>
            <a:r>
              <a:rPr lang="en-US" dirty="0"/>
              <a:t>Use Azure Cloud and remote debugging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59324"/>
      </p:ext>
    </p:extLst>
  </p:cSld>
  <p:clrMapOvr>
    <a:masterClrMapping/>
  </p:clrMapOvr>
  <p:transition>
    <p:push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34AC31-977B-4816-99ED-E47F68C60C06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01/29/2026</a:t>
            </a:r>
            <a:endParaRPr lang="en-US" dirty="0">
              <a:latin typeface="+mj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it-IT" dirty="0"/>
              <a:t>CSCI E-94 Joseph Ficara Copyright © 2013-2026 Version 9.0.4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192068"/>
      </p:ext>
    </p:extLst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3200" dirty="0" smtClean="0">
            <a:solidFill>
              <a:schemeClr val="bg1"/>
            </a:solidFill>
            <a:latin typeface="Segoe UI Light" panose="020B0502040204020203" pitchFamily="34" charset="0"/>
            <a:cs typeface="Segoe UI Light" panose="020B0502040204020203" pitchFamily="34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zure Lecture Template" id="{0439FFC5-6EAC-4872-909F-4AFD691C8633}" vid="{F4126334-5BB0-4C04-9544-1996DE21858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SCI-E24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zure Lecture Template" id="{0439FFC5-6EAC-4872-909F-4AFD691C8633}" vid="{86D45722-5577-440F-A024-5541F177225B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Azure Lecture Template</Template>
  <TotalTime>24</TotalTime>
  <Words>2949</Words>
  <Application>Microsoft Office PowerPoint</Application>
  <PresentationFormat>On-screen Show (4:3)</PresentationFormat>
  <Paragraphs>554</Paragraphs>
  <Slides>45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Lato Extended</vt:lpstr>
      <vt:lpstr>Consolas</vt:lpstr>
      <vt:lpstr>Segoe UI Light</vt:lpstr>
      <vt:lpstr>Tahoma</vt:lpstr>
      <vt:lpstr>Segoe UI</vt:lpstr>
      <vt:lpstr>Arial</vt:lpstr>
      <vt:lpstr>Wingdings</vt:lpstr>
      <vt:lpstr>Blends</vt:lpstr>
      <vt:lpstr>Custom Design</vt:lpstr>
      <vt:lpstr>Class Overview</vt:lpstr>
      <vt:lpstr>Agenda</vt:lpstr>
      <vt:lpstr>Agenda</vt:lpstr>
      <vt:lpstr>First Night</vt:lpstr>
      <vt:lpstr>Class Overview- Teaching Staff</vt:lpstr>
      <vt:lpstr>Class Overview - Coverage</vt:lpstr>
      <vt:lpstr>Class Overview - Coverage</vt:lpstr>
      <vt:lpstr>Class Overview - Coverage</vt:lpstr>
      <vt:lpstr>Class Overview - Coverage</vt:lpstr>
      <vt:lpstr>Class Overview - Coverage</vt:lpstr>
      <vt:lpstr>Course Coverage FAQ</vt:lpstr>
      <vt:lpstr>Course Coverage FAQ</vt:lpstr>
      <vt:lpstr>Course Coverage</vt:lpstr>
      <vt:lpstr>Class Overview – House Rules</vt:lpstr>
      <vt:lpstr>Class Overview - Use of AI</vt:lpstr>
      <vt:lpstr>Class Overview - Use of AI</vt:lpstr>
      <vt:lpstr>Class Overview - Use of AI</vt:lpstr>
      <vt:lpstr>Class Overview - Use of AI</vt:lpstr>
      <vt:lpstr>Class Overview - Grading</vt:lpstr>
      <vt:lpstr>Class Overview - Grading</vt:lpstr>
      <vt:lpstr>Class Overview - Grading Assignments …</vt:lpstr>
      <vt:lpstr>Class Overview - Grading Assignments …</vt:lpstr>
      <vt:lpstr>Class Overview - Grading</vt:lpstr>
      <vt:lpstr>Class Overview  Assignments …</vt:lpstr>
      <vt:lpstr>Grading</vt:lpstr>
      <vt:lpstr>Class Overview - Logistics</vt:lpstr>
      <vt:lpstr>Class Overview - Logistics</vt:lpstr>
      <vt:lpstr>Class Overview - Logistics</vt:lpstr>
      <vt:lpstr>PowerPoint Presentation</vt:lpstr>
      <vt:lpstr>Development Tools &amp; Environment</vt:lpstr>
      <vt:lpstr>Development Tools &amp; Environment</vt:lpstr>
      <vt:lpstr>Development Tools &amp; Environment</vt:lpstr>
      <vt:lpstr>Development Tools &amp; Environment</vt:lpstr>
      <vt:lpstr>Class Overview – FAQ</vt:lpstr>
      <vt:lpstr>Class Overview – FAQ</vt:lpstr>
      <vt:lpstr>Class Overview – FAQ</vt:lpstr>
      <vt:lpstr>Class Overview – FAQ What assistance is available for students unfamiliar with the technology stack ..</vt:lpstr>
      <vt:lpstr>Class Overview – FAQ What assistance is available for students unfamiliar with the technology stack ..</vt:lpstr>
      <vt:lpstr>Class Overview – FAQ</vt:lpstr>
      <vt:lpstr>Class Overview – FAQ</vt:lpstr>
      <vt:lpstr>Class Overview – FAQ</vt:lpstr>
      <vt:lpstr>Class Overview – FAQ</vt:lpstr>
      <vt:lpstr>Class Overview – FAQ</vt:lpstr>
      <vt:lpstr>Class Overview – FAQ</vt:lpstr>
      <vt:lpstr>Class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Joseph Ficara</cp:lastModifiedBy>
  <cp:revision>6</cp:revision>
  <dcterms:created xsi:type="dcterms:W3CDTF">2015-01-28T21:53:48Z</dcterms:created>
  <dcterms:modified xsi:type="dcterms:W3CDTF">2026-01-29T15:44:25Z</dcterms:modified>
</cp:coreProperties>
</file>